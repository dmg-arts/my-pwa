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TOP-Feedback collects feedback from cadets and turns it into something an instructor can act on. The single most important thing about it: there is no vendor and no server. Every record lives in a Google Drive folder the detachment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before the product. The last bullet matters most to a commander: safety disclosures buried in unread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facts that answer the questions people always ask first: where does the data go, what do I need, what does it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procurement question. There is no lock-in and no data processor. Emphasise that folder sharing is the real access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signs in, cadets included. That is what makes 'one submission per student' mean something rather than relying on an honour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cadet sees their own list, not everything the detachment has ever issued. Scheduled forms stay hidden until their open date; overdue ones close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Neutral sits at 5, the true centre of a 1-9 scale. Instructors see both the word and the number; cadets only ever see the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Classroom wifi is unreliable. The offline queue is why a cadet never loses what they typed. Reading existing feedback does need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 Feedback and Feedback Response and Analysis are the two headline actions. The tabs below hold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 is deliberately narrow. That constraint is what makes results comparable across a detachment and across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distribution. This example is bimodal — the mean of 5.75 describes nobody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best argument for the analysis over a spreadsheet. A spreadsheet gives you the mean and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in the room: sentiment reads words, not meaning. It is a triage aid for deciding what to read first, never a substitute for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limits out loud: it matches words, not meaning, and a clear screen is not proof that nothing was reported. Follow detachment reporting procedures.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this question. The receipt/response separation is the whole design, and the three-response threshold is the honest acknowledgement of the maths.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credentials list can only be read once, because only hashes are stored. Download it, distribute it, delete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here. Point at the setup guide PDF for anyone who will actually do the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137160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868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C4F8B"/>
                </a:solidFill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Helvetica Neue"/>
              </a:rPr>
              <a:t>TOP-Feedback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Helvetica Neue"/>
              </a:rPr>
              <a:t>The student and instructor feedback cycle,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Helvetica Neue"/>
              </a:rPr>
              <a:t>owned entirely by your detachment.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257800"/>
            <a:ext cx="109728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Helvetica Neue"/>
              </a:rPr>
              <a:t>An introduction  ·  What it does and how to use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WHY THIS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Feedback that nobody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 b="0">
                <a:solidFill>
                  <a:srgbClr val="14181F"/>
                </a:solidFill>
                <a:latin typeface="Helvetica Neue"/>
              </a:rPr>
              <a:t>Paper forms get collected, stacked, and never counted.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 b="0">
                <a:solidFill>
                  <a:srgbClr val="14181F"/>
                </a:solidFill>
                <a:latin typeface="Helvetica Neue"/>
              </a:rPr>
              <a:t>Survey tools put cadet feedback on a company's servers.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 b="0">
                <a:solidFill>
                  <a:srgbClr val="14181F"/>
                </a:solidFill>
                <a:latin typeface="Helvetica Neue"/>
              </a:rPr>
              <a:t>Averages hide the thing you needed to see.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800" b="0">
                <a:solidFill>
                  <a:srgbClr val="14181F"/>
                </a:solidFill>
                <a:latin typeface="Helvetica Neue"/>
              </a:rPr>
              <a:t>A disclosure of hazing can sit unread in a pile for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011680"/>
            <a:ext cx="4892040" cy="3200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2423160"/>
            <a:ext cx="40233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500" b="1">
                <a:solidFill>
                  <a:srgbClr val="1C4F8B"/>
                </a:solidFill>
                <a:latin typeface="Helvetica Neue"/>
              </a:rPr>
              <a:t>What this replaces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600" b="0">
                <a:solidFill>
                  <a:srgbClr val="14181F"/>
                </a:solidFill>
                <a:latin typeface="Helvetica Neue"/>
              </a:rPr>
              <a:t>One app that issues the form, collects the responses, does the statistics, reads the written answers, and flags anything that needs a person to act on it today.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Runs on a phone. Works offline. Costs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A web app with no server behind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33375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3337560" cy="47625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697480"/>
            <a:ext cx="2606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900" b="1">
                <a:solidFill>
                  <a:srgbClr val="14181F"/>
                </a:solidFill>
                <a:latin typeface="Helvetica Neue"/>
              </a:rPr>
              <a:t>Your Google account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Every record is written to a Drive folder your detachment owns. No vendor holds your data, because no vendor is involved.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2286000"/>
            <a:ext cx="33375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98848" y="2286000"/>
            <a:ext cx="3337560" cy="47625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4608" y="2697480"/>
            <a:ext cx="2606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900" b="1">
                <a:solidFill>
                  <a:srgbClr val="14181F"/>
                </a:solidFill>
                <a:latin typeface="Helvetica Neue"/>
              </a:rPr>
              <a:t>Any device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Opens in a browser and installs to a phone home screen. Cadets fill in feedback on the walk out of the classroom.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0456" y="2286000"/>
            <a:ext cx="33375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0456" y="2286000"/>
            <a:ext cx="3337560" cy="47625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2697480"/>
            <a:ext cx="2606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900" b="1">
                <a:solidFill>
                  <a:srgbClr val="14181F"/>
                </a:solidFill>
                <a:latin typeface="Helvetica Neue"/>
              </a:rPr>
              <a:t>Nothing to buy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No licences, no subscription, no servers to maintain. Setup is a Google folder and about 45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DATA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Your folder is the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Helvetica Neue"/>
              </a:rPr>
              <a:t>Each record is a plain JSON file you can open in Drive. Nothing is locked in a format only this app can 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68880"/>
            <a:ext cx="5669280" cy="3200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697480"/>
            <a:ext cx="51206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C4F8B"/>
                </a:solidFill>
                <a:latin typeface="Menlo"/>
              </a:rPr>
              <a:t>TOP-Feedback/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config/      detachment profile and settings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users/       accounts — cadets, instructors, admins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forms/       feedback form definitions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requests/    feedback issued, each with an ID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responses/   submitted feedback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receipts/    who submitted — kept apart from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             what they said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55606E"/>
                </a:solidFill>
                <a:latin typeface="Menlo"/>
              </a:rPr>
              <a:t>  reports/     exported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60604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If you stop using this app, you still have every response.</a:t>
            </a:r>
          </a:p>
          <a:p>
            <a:pPr lvl="1">
              <a:lnSpc>
                <a:spcPct val="125000"/>
              </a:lnSpc>
              <a:spcAft>
                <a:spcPts val="12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Readable in Drive, backed up by Google, recoverable from the trash for 30 days.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Access is controlled by folder sharing.</a:t>
            </a:r>
          </a:p>
          <a:p>
            <a:pPr lvl="1">
              <a:lnSpc>
                <a:spcPct val="125000"/>
              </a:lnSpc>
              <a:spcAft>
                <a:spcPts val="12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Who can read the feedback is a Drive permission, not a setting in this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THREE WAYS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One app, three doors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564" y="2047875"/>
            <a:ext cx="5184392" cy="376808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089" y="2057400"/>
            <a:ext cx="5165342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22860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Student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Signs in, sees only the feedback assigned to them, submits it once.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Instructor Portal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Creates feedback, reads responses, runs the analysis.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Database Administration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Creates accounts and resets passwords.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FOR CADETS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Only what is assigned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Helvetica Neue"/>
              </a:rPr>
              <a:t>Filtered by school year, semester, class and due date. Completed feedback drops off the 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1555" y="2367915"/>
            <a:ext cx="5058410" cy="367665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80" y="2377440"/>
            <a:ext cx="50393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THE RATING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Cadets choose a word. The maths runs on the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1264" y="2139315"/>
            <a:ext cx="3907072" cy="395097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ud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789" y="2148840"/>
            <a:ext cx="388802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23774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500" b="1">
                <a:solidFill>
                  <a:srgbClr val="14181F"/>
                </a:solidFill>
                <a:latin typeface="Helvetica Neue"/>
              </a:rPr>
              <a:t>Nine points, every one named.</a:t>
            </a:r>
          </a:p>
          <a:p>
            <a:pPr lvl="1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Helvetica Neue"/>
              </a:rPr>
              <a:t>—  Detrimental · Significant · Unfavorable · Minor · Neutral · Slight · Favorable · Major · Outstanding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500" b="1">
                <a:solidFill>
                  <a:srgbClr val="14181F"/>
                </a:solidFill>
                <a:latin typeface="Helvetica Neue"/>
              </a:rPr>
              <a:t>No numbers on screen.</a:t>
            </a:r>
          </a:p>
          <a:p>
            <a:pPr lvl="1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Helvetica Neue"/>
              </a:rPr>
              <a:t>—  A visible number invites people to average it in their heads while answering.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500" b="1">
                <a:solidFill>
                  <a:srgbClr val="14181F"/>
                </a:solidFill>
                <a:latin typeface="Helvetica Neue"/>
              </a:rPr>
              <a:t>Written answers capped at 250 words</a:t>
            </a:r>
          </a:p>
          <a:p>
            <a:pPr lvl="1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Helvetica Neue"/>
              </a:rPr>
              <a:t>—  with a live counter.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ON A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Built for the walk out
of the classroom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517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Installs to the home screen.</a:t>
            </a:r>
          </a:p>
          <a:p>
            <a:pPr lvl="1">
              <a:lnSpc>
                <a:spcPct val="125000"/>
              </a:lnSpc>
              <a:spcAft>
                <a:spcPts val="10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Opens like an ordinary app — no address to remember.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Works with no signal.</a:t>
            </a:r>
          </a:p>
          <a:p>
            <a:pPr lvl="1">
              <a:lnSpc>
                <a:spcPct val="125000"/>
              </a:lnSpc>
              <a:spcAft>
                <a:spcPts val="10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A submission made offline is saved on the device, shown as pending, and sent automatically when the connection returns.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Nothing is ever lost to a dropped connection.</a:t>
            </a:r>
          </a:p>
        </p:txBody>
      </p:sp>
      <p:pic>
        <p:nvPicPr>
          <p:cNvPr id="6" name="Picture 5" descr="student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02920"/>
            <a:ext cx="2926080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FOR INSTRUCTORS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Two things to do, both one click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3425571" y="2185035"/>
            <a:ext cx="5310378" cy="385953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ructor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096" y="2194560"/>
            <a:ext cx="5291328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CREATE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A standardized form, in about two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36365" y="2139315"/>
            <a:ext cx="2282550" cy="395097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m-cre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90" y="2148840"/>
            <a:ext cx="22635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3774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Name the class or event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Pick the AS level, term and dates</a:t>
            </a:r>
          </a:p>
          <a:p>
            <a:pPr lvl="1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Scheduled forms stay hidden until they open.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Choose who gets it</a:t>
            </a:r>
          </a:p>
          <a:p>
            <a:pPr lvl="1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Everyone at that level, or named cadets.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Add questions — minimum three</a:t>
            </a:r>
          </a:p>
          <a:p>
            <a:pPr lvl="1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A rating, or a written answer. No maximum.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Every form gets an ID</a:t>
            </a:r>
          </a:p>
          <a:p>
            <a:pPr lvl="1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FB-2026-0001, to quote in conversation.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ANALYSIS ·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Everything a mean alone would hide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63155" y="2093595"/>
            <a:ext cx="5594730" cy="404241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alysis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80" y="2103120"/>
            <a:ext cx="55756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2286000"/>
            <a:ext cx="34747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Mean, median, mode, range, spread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Distribution across every point</a:t>
            </a:r>
          </a:p>
          <a:p>
            <a:pPr lvl="1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Shape you can see, not infer.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Agreement, scored 0 to 1</a:t>
            </a:r>
          </a:p>
          <a:p>
            <a:pPr lvl="1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Do they actually agree?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Outliers, found robustly</a:t>
            </a:r>
          </a:p>
          <a:p>
            <a:pPr lvl="1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Against the median, so one extreme rating cannot hide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A mean of 5 can mean everyone shrugged,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or that half the flight thought it was outstanding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and half thought it was harmful.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931920"/>
            <a:ext cx="128016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29768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Same number. Opposite situations. Only one of them needs acting on.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Helvetica Neue"/>
              </a:rPr>
              <a:t>TOP-Feedback detects the split, says so plainly, and tells you the average describes nobody — so you read both groups instead of the mean.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ANALYSIS · WRITTEN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Read the important ones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Sentiment, ranked most negative first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Handles negation and emphasis — 'not helpful' and 'extremely helpful' both score correctly.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Every answer is shown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Answers the lexicon cannot read are labelled, never hidden.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Helvetica Neue"/>
              </a:rPr>
              <a:t>Runs on the device</a:t>
            </a:r>
          </a:p>
          <a:p>
            <a:pPr lvl="1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—  No cloud service sees your cadets' words. That constraint is the reason it is a word list rather than a model — and the accuracy limits are stated on screen.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99835" y="2648470"/>
            <a:ext cx="5139690" cy="28412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57995"/>
            <a:ext cx="5120640" cy="2822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8A939F"/>
                </a:solidFill>
                <a:latin typeface="Helvetica Neue"/>
              </a:rPr>
              <a:t>Word cloud sized by how many people used a word — not how often it appears.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SAFETY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Nothing important sits unread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67715" y="2782512"/>
            <a:ext cx="6968490" cy="2664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92037"/>
            <a:ext cx="6949440" cy="26455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28600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Every written answer is screened</a:t>
            </a:r>
          </a:p>
          <a:p>
            <a:pPr lvl="1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Hazing, sexual harassment, discrimination, violence, self-harm, substances, integrity.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Matches are highlighted in context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Helvetica Neue"/>
              </a:rPr>
              <a:t>A prompt, never a finding</a:t>
            </a:r>
          </a:p>
          <a:p>
            <a:pPr lvl="1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55606E"/>
                </a:solidFill>
                <a:latin typeface="Helvetica Neue"/>
              </a:rPr>
              <a:t>—  It cannot tell 'we discussed hazing prevention' from 'I was hazed'. A person reads it and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ANONYMITY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Anonymous, and still able to chase people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40280"/>
            <a:ext cx="33375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7625" cy="292608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606040"/>
            <a:ext cx="25603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800" b="1">
                <a:solidFill>
                  <a:srgbClr val="14181F"/>
                </a:solidFill>
                <a:latin typeface="Helvetica Neue"/>
              </a:rPr>
              <a:t>How it works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The cadet signs in, so the app knows who they are. It writes a receipt in a separate folder, then discards the name. The response itself carries no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2240280"/>
            <a:ext cx="33375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98848" y="2240280"/>
            <a:ext cx="47625" cy="2926080"/>
          </a:xfrm>
          <a:prstGeom prst="rect">
            <a:avLst/>
          </a:prstGeom>
          <a:solidFill>
            <a:srgbClr val="1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82896" y="2606040"/>
            <a:ext cx="25603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800" b="1">
                <a:solidFill>
                  <a:srgbClr val="14181F"/>
                </a:solidFill>
                <a:latin typeface="Helvetica Neue"/>
              </a:rPr>
              <a:t>What that buys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You can say “two cadets still owe feedback” about responses nobody can attribute — and nobody can submit twice.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0456" y="2240280"/>
            <a:ext cx="33375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0456" y="2240280"/>
            <a:ext cx="47625" cy="2926080"/>
          </a:xfrm>
          <a:prstGeom prst="rect">
            <a:avLst/>
          </a:prstGeom>
          <a:solidFill>
            <a:srgbClr val="8A5A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04504" y="2606040"/>
            <a:ext cx="25603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800" b="1">
                <a:solidFill>
                  <a:srgbClr val="14181F"/>
                </a:solidFill>
                <a:latin typeface="Helvetica Neue"/>
              </a:rPr>
              <a:t>The honest limit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Helvetica Neue"/>
              </a:rPr>
              <a:t>With very few responses a single answer can be identified by elimination. So anonymous results stay hidden until three people have responded.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4181F"/>
                </a:solidFill>
                <a:latin typeface="Helvetica Neue"/>
              </a:rPr>
              <a:t>Safety flags are the deliberate exception — a disclosure cannot wait for a third response, so the app says one exists and warns you that opening it may identify the author.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1C4F8B"/>
                </a:solidFill>
                <a:latin typeface="Helvetica Neue"/>
              </a:rPr>
              <a:t>DATABASE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Helvetica Neue"/>
              </a:rPr>
              <a:t>Accounts your detachment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Helvetica Neue"/>
              </a:rPr>
              <a:t>Create cadets one at a time or import a class by CSV — passwords are generated and handed to you once.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4734" y="2413635"/>
            <a:ext cx="2832051" cy="358520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259" y="2423160"/>
            <a:ext cx="2813001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8A939F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Getting started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2286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C4F8B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304288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Helvetica Neue"/>
              </a:rPr>
              <a:t>Create the folder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</a:rPr>
              <a:t>A Google account the detachment owns, and a folder named TOP-Feedback.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C4F8B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3447288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Helvetica Neue"/>
              </a:rPr>
              <a:t>Register the app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</a:rPr>
              <a:t>One free Google Cloud project so the app can reach that Drive. About ten minutes.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72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C4F8B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4590288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Helvetica Neue"/>
              </a:rPr>
              <a:t>Run the wizard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</a:rPr>
              <a:t>Paste the folder link, create your administrator account, add cadets.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06440"/>
            <a:ext cx="106070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</a:rPr>
              <a:t>The full step-by-step is in the Installation and Setup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