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primer, not a training session. Three things to land: there is no vendor and no server; the detachment owns the data; and it turns feedback into something an instructor can act on rather than a stack of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answer the questions always asked first: where does the data go, what do I need to run it, and what does it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before the product. The last bullet is the one a commander cares about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procurement answer: no lock-in, no data processor, no contract. Stress that folder sharing is the real access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signs in, cadets included. That is what makes one-submission-per-student a fact rather than an honour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cadet sees their own list, not everything the detachment ever issued. Scheduled forms stay hidden until they open; overdue ones close on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Neutral sits at 5, the true centre of a 1-9 scale. Instructors see the word and the number together; cadets only ever see the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Classroom wifi is unreliable — that is the whole reason for the offline queue. Reading existing feedback still needs a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Feedback and Feedback Response and Analysis are the headline actions. The tabs underneath hold forms, students and database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 is deliberately narrow. That constraint is exactly what makes results comparable between events, cohorts and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distribution in the screenshot. It is bimodal — the mean of 5.75 describes nobody who was actually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single argument for the analysis over a spreadsheet. A spreadsheet gives you the mean and stops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straight about the limits in the room: it reads words, not meaning. It decides what you read first; it does not read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limits out loud: it matches words, not meaning, and a clear screen is not proof that nothing was reported. Follow detachment reporting procedures either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this question. The receipt-versus-response separation is the whole design, and the three-response threshold is the honest limit of the maths.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the credentials list can only be read once, because only hashes are stored. Download it, hand it out, delete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Anyone who will actually perform the install should be given the setup guide PDF rather than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344168"/>
            <a:ext cx="8229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800" b="1">
                <a:solidFill>
                  <a:srgbClr val="1C4F8B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Calibri"/>
              </a:rPr>
              <a:t>TOP-Feedback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8961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The student and instructor feedback cycle,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owned entirely by your detachment.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230368"/>
            <a:ext cx="105156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An introduction — what it is, what it does, and how it is 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000" b="1">
                <a:solidFill>
                  <a:srgbClr val="14181F"/>
                </a:solidFill>
                <a:latin typeface="Calibri"/>
              </a:rPr>
              <a:t>A feedback app that stores nothing on anyone else's 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55606E"/>
                </a:solidFill>
                <a:latin typeface="Calibri"/>
              </a:rPr>
              <a:t>Cadets answer a short form on their phone. Instructors see the results analysed, not just listed. Every record is written to a Google Drive folder your detachment already owns.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17520"/>
            <a:ext cx="324612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3246120" cy="50292"/>
          </a:xfrm>
          <a:prstGeom prst="rect">
            <a:avLst/>
          </a:prstGeom>
          <a:solidFill>
            <a:srgbClr val="1C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33856" y="3401568"/>
            <a:ext cx="2624328" cy="1856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900" b="1">
                <a:solidFill>
                  <a:srgbClr val="14181F"/>
                </a:solidFill>
                <a:latin typeface="Calibri"/>
              </a:rPr>
              <a:t>Your Google account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5606E"/>
                </a:solidFill>
                <a:latin typeface="Calibri"/>
              </a:rPr>
              <a:t>No vendor holds your data, because no vendor is involved. If you stop using the app, every response is still sitting in your Drive.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3017520"/>
            <a:ext cx="324612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453128" y="3017520"/>
            <a:ext cx="3246120" cy="50292"/>
          </a:xfrm>
          <a:prstGeom prst="rect">
            <a:avLst/>
          </a:prstGeom>
          <a:solidFill>
            <a:srgbClr val="1C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64024" y="3401568"/>
            <a:ext cx="2624328" cy="1856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900" b="1">
                <a:solidFill>
                  <a:srgbClr val="14181F"/>
                </a:solidFill>
                <a:latin typeface="Calibri"/>
              </a:rPr>
              <a:t>Any device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5606E"/>
                </a:solidFill>
                <a:latin typeface="Calibri"/>
              </a:rPr>
              <a:t>Runs in a browser and installs to a phone home screen. Works with no signal and sends when the connection returns.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3017520"/>
            <a:ext cx="324612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083296" y="3017520"/>
            <a:ext cx="3246120" cy="50292"/>
          </a:xfrm>
          <a:prstGeom prst="rect">
            <a:avLst/>
          </a:prstGeom>
          <a:solidFill>
            <a:srgbClr val="1C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94192" y="3401568"/>
            <a:ext cx="2624328" cy="1856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900" b="1">
                <a:solidFill>
                  <a:srgbClr val="14181F"/>
                </a:solidFill>
                <a:latin typeface="Calibri"/>
              </a:rPr>
              <a:t>Nothing to buy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5606E"/>
                </a:solidFill>
                <a:latin typeface="Calibri"/>
              </a:rPr>
              <a:t>No licences, no subscription, no server to maintain. Setup is a Drive folder and about 45 minutes, once.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WHY IT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Feedback nobody can act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394960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2200"/>
              </a:spcAft>
            </a:pPr>
            <a:r>
              <a:rPr sz="1800" b="1">
                <a:solidFill>
                  <a:srgbClr val="14181F"/>
                </a:solidFill>
                <a:latin typeface="Calibri"/>
              </a:rPr>
              <a:t>Paper forms get collected, stacked, and never counted.</a:t>
            </a:r>
          </a:p>
          <a:p>
            <a:pPr algn="l">
              <a:lnSpc>
                <a:spcPct val="122000"/>
              </a:lnSpc>
              <a:spcAft>
                <a:spcPts val="2200"/>
              </a:spcAft>
            </a:pPr>
            <a:r>
              <a:rPr sz="1800" b="1">
                <a:solidFill>
                  <a:srgbClr val="14181F"/>
                </a:solidFill>
                <a:latin typeface="Calibri"/>
              </a:rPr>
              <a:t>Survey tools put cadet feedback on a company's servers.</a:t>
            </a:r>
          </a:p>
          <a:p>
            <a:pPr algn="l">
              <a:lnSpc>
                <a:spcPct val="122000"/>
              </a:lnSpc>
              <a:spcAft>
                <a:spcPts val="2200"/>
              </a:spcAft>
            </a:pPr>
            <a:r>
              <a:rPr sz="1800" b="1">
                <a:solidFill>
                  <a:srgbClr val="14181F"/>
                </a:solidFill>
                <a:latin typeface="Calibri"/>
              </a:rPr>
              <a:t>An average hides the very thing you needed to see.</a:t>
            </a:r>
          </a:p>
          <a:p>
            <a:pPr algn="l">
              <a:lnSpc>
                <a:spcPct val="122000"/>
              </a:lnSpc>
              <a:spcAft>
                <a:spcPts val="2200"/>
              </a:spcAft>
            </a:pPr>
            <a:r>
              <a:rPr sz="1800" b="1">
                <a:solidFill>
                  <a:srgbClr val="14181F"/>
                </a:solidFill>
                <a:latin typeface="Calibri"/>
              </a:rPr>
              <a:t>A disclosure of hazing can sit unread in a pile for weeks.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2011680"/>
            <a:ext cx="4754880" cy="3200400"/>
          </a:xfrm>
          <a:prstGeom prst="roundRect">
            <a:avLst>
              <a:gd name="adj" fmla="val 4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40880" y="2395728"/>
            <a:ext cx="393192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600" b="1">
                <a:solidFill>
                  <a:srgbClr val="1C4F8B"/>
                </a:solidFill>
                <a:latin typeface="Calibri"/>
              </a:rPr>
              <a:t>What it replaces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500" b="0">
                <a:solidFill>
                  <a:srgbClr val="14181F"/>
                </a:solidFill>
                <a:latin typeface="Calibri"/>
              </a:rPr>
              <a:t>One app that issues the form, collects the responses, runs the statistics, reads the written answers, and flags anything a person needs to see today.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14181F"/>
                </a:solidFill>
                <a:latin typeface="Calibri"/>
              </a:rPr>
              <a:t>On a phone. Offline. At no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WHERE THE DATA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Your folder is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>
                <a:solidFill>
                  <a:srgbClr val="55606E"/>
                </a:solidFill>
                <a:latin typeface="Calibri"/>
              </a:rPr>
              <a:t>Each record is a plain file you can open in Drive — nothing is locked in a format only this app can 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5486400" cy="3200400"/>
          </a:xfrm>
          <a:prstGeom prst="roundRect">
            <a:avLst>
              <a:gd name="adj" fmla="val 3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4937760" cy="274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C4F8B"/>
                </a:solidFill>
                <a:latin typeface="Courier New"/>
              </a:rPr>
              <a:t>TOP-Feedback/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55606E"/>
                </a:solidFill>
                <a:latin typeface="Courier New"/>
              </a:rPr>
              <a:t>   config/      detachment profile and settings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55606E"/>
                </a:solidFill>
                <a:latin typeface="Courier New"/>
              </a:rPr>
              <a:t>   users/       accounts: cadets, instructors, admins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55606E"/>
                </a:solidFill>
                <a:latin typeface="Courier New"/>
              </a:rPr>
              <a:t>   forms/       feedback form definitions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55606E"/>
                </a:solidFill>
                <a:latin typeface="Courier New"/>
              </a:rPr>
              <a:t>   requests/    feedback issued, each with an ID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55606E"/>
                </a:solidFill>
                <a:latin typeface="Courier New"/>
              </a:rPr>
              <a:t>   responses/   submitted feedback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55606E"/>
                </a:solidFill>
                <a:latin typeface="Courier New"/>
              </a:rPr>
              <a:t>   receipts/    who submitted, kept apart from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55606E"/>
                </a:solidFill>
                <a:latin typeface="Courier New"/>
              </a:rPr>
              <a:t>                what they said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55606E"/>
                </a:solidFill>
                <a:latin typeface="Courier New"/>
              </a:rPr>
              <a:t>   reports/     exported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606040"/>
            <a:ext cx="457200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600"/>
              </a:spcAft>
            </a:pPr>
            <a:r>
              <a:rPr sz="1600" b="1">
                <a:solidFill>
                  <a:srgbClr val="14181F"/>
                </a:solidFill>
                <a:latin typeface="Calibri"/>
              </a:rPr>
              <a:t>Stop using the app and you still have every response.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300" b="0">
                <a:solidFill>
                  <a:srgbClr val="55606E"/>
                </a:solidFill>
                <a:latin typeface="Calibri"/>
              </a:rPr>
              <a:t>   Readable in Drive, backed up by Google, recoverable from the trash for 30 days.</a:t>
            </a:r>
          </a:p>
          <a:p>
            <a:pPr algn="l">
              <a:lnSpc>
                <a:spcPct val="122000"/>
              </a:lnSpc>
              <a:spcAft>
                <a:spcPts val="1600"/>
              </a:spcAft>
            </a:pPr>
            <a:r>
              <a:rPr sz="1600" b="1">
                <a:solidFill>
                  <a:srgbClr val="14181F"/>
                </a:solidFill>
                <a:latin typeface="Calibri"/>
              </a:rPr>
              <a:t>Who can read the feedback is a Drive sharing setting.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300" b="0">
                <a:solidFill>
                  <a:srgbClr val="55606E"/>
                </a:solidFill>
                <a:latin typeface="Calibri"/>
              </a:rPr>
              <a:t>   Not a setting inside this app. That is the access control that actually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WHO USES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One app, three doors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1067" y="2002155"/>
            <a:ext cx="5247386" cy="381380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592" y="2011680"/>
            <a:ext cx="5228336" cy="37947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2240280"/>
            <a:ext cx="4206240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600" b="1">
                <a:solidFill>
                  <a:srgbClr val="14181F"/>
                </a:solidFill>
                <a:latin typeface="Calibri"/>
              </a:rPr>
              <a:t>Student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b="0">
                <a:solidFill>
                  <a:srgbClr val="55606E"/>
                </a:solidFill>
                <a:latin typeface="Calibri"/>
              </a:rPr>
              <a:t>   Signs in, sees only the feedback assigned to them, submits it once.</a:t>
            </a:r>
          </a:p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600" b="1">
                <a:solidFill>
                  <a:srgbClr val="14181F"/>
                </a:solidFill>
                <a:latin typeface="Calibri"/>
              </a:rPr>
              <a:t>Instructor Portal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b="0">
                <a:solidFill>
                  <a:srgbClr val="55606E"/>
                </a:solidFill>
                <a:latin typeface="Calibri"/>
              </a:rPr>
              <a:t>   Creates feedback, reads responses, runs the analysis.</a:t>
            </a:r>
          </a:p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600" b="1">
                <a:solidFill>
                  <a:srgbClr val="14181F"/>
                </a:solidFill>
                <a:latin typeface="Calibri"/>
              </a:rPr>
              <a:t>Database Administration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b="0">
                <a:solidFill>
                  <a:srgbClr val="55606E"/>
                </a:solidFill>
                <a:latin typeface="Calibri"/>
              </a:rPr>
              <a:t>   Creates accounts and resets passwords.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FOR CADETS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Only what is assigned to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>
                <a:solidFill>
                  <a:srgbClr val="55606E"/>
                </a:solidFill>
                <a:latin typeface="Calibri"/>
              </a:rPr>
              <a:t>Filtered by school year, semester, class and due date. Anything already submitted drops off the 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46043" y="2505075"/>
            <a:ext cx="4869434" cy="353949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tuden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568" y="2514600"/>
            <a:ext cx="4850384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ANSWERING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000" b="1">
                <a:solidFill>
                  <a:srgbClr val="14181F"/>
                </a:solidFill>
                <a:latin typeface="Calibri"/>
              </a:rPr>
              <a:t>Cadets choose a word. The maths runs on the number.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2115544" y="2139315"/>
            <a:ext cx="3907072" cy="395097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tuden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069" y="2148840"/>
            <a:ext cx="3888022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286000"/>
            <a:ext cx="3749039" cy="365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14181F"/>
                </a:solidFill>
                <a:latin typeface="Calibri"/>
              </a:rPr>
              <a:t>Nine ratings, every one named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55606E"/>
                </a:solidFill>
                <a:latin typeface="Calibri"/>
              </a:rPr>
              <a:t>   Detrimental, Significant, Unfavorable, Minor, Neutral, Slight, Favorable, Major, Outstanding.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14181F"/>
                </a:solidFill>
                <a:latin typeface="Calibri"/>
              </a:rPr>
              <a:t>No numbers on screen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55606E"/>
                </a:solidFill>
                <a:latin typeface="Calibri"/>
              </a:rPr>
              <a:t>   A visible number invites people to average it in their head while answering.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14181F"/>
                </a:solidFill>
                <a:latin typeface="Calibri"/>
              </a:rPr>
              <a:t>Written answers capped at 250 words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55606E"/>
                </a:solidFill>
                <a:latin typeface="Calibri"/>
              </a:rPr>
              <a:t>   With a live counter as they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ON A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Built for the walk out of the classroom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5852160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700" b="1">
                <a:solidFill>
                  <a:srgbClr val="14181F"/>
                </a:solidFill>
                <a:latin typeface="Calibri"/>
              </a:rPr>
              <a:t>Installs to the home screen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0">
                <a:solidFill>
                  <a:srgbClr val="55606E"/>
                </a:solidFill>
                <a:latin typeface="Calibri"/>
              </a:rPr>
              <a:t>   Opens like an ordinary app. No address for anyone to remember.</a:t>
            </a:r>
          </a:p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700" b="1">
                <a:solidFill>
                  <a:srgbClr val="14181F"/>
                </a:solidFill>
                <a:latin typeface="Calibri"/>
              </a:rPr>
              <a:t>Works with no signal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0">
                <a:solidFill>
                  <a:srgbClr val="55606E"/>
                </a:solidFill>
                <a:latin typeface="Calibri"/>
              </a:rPr>
              <a:t>   A submission made offline is saved on the device, shown as pending, and sent automatically when the connection returns.</a:t>
            </a:r>
          </a:p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700" b="1">
                <a:solidFill>
                  <a:srgbClr val="14181F"/>
                </a:solidFill>
                <a:latin typeface="Calibri"/>
              </a:rPr>
              <a:t>Nothing is lost to a dropped connection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197215" y="767715"/>
            <a:ext cx="2716530" cy="54140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tudent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777240"/>
            <a:ext cx="2697480" cy="5394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FOR INSTRUCTORS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Two things to do, both one click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7067" y="2185035"/>
            <a:ext cx="5247386" cy="381380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instructor-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592" y="2194560"/>
            <a:ext cx="5228336" cy="37947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CREATING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A standardized form, in about two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0645" y="2139315"/>
            <a:ext cx="2282550" cy="395097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orm-cre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170" y="2148840"/>
            <a:ext cx="22635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2240280"/>
            <a:ext cx="4023360" cy="3794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Name the class or event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Set the AS level, term and dates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00" b="0">
                <a:solidFill>
                  <a:srgbClr val="55606E"/>
                </a:solidFill>
                <a:latin typeface="Calibri"/>
              </a:rPr>
              <a:t>   Scheduled forms stay hidden until they open.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Choose who receives it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00" b="0">
                <a:solidFill>
                  <a:srgbClr val="55606E"/>
                </a:solidFill>
                <a:latin typeface="Calibri"/>
              </a:rPr>
              <a:t>   Everyone at that level, or named cadets.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Add questions — three minimum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00" b="0">
                <a:solidFill>
                  <a:srgbClr val="55606E"/>
                </a:solidFill>
                <a:latin typeface="Calibri"/>
              </a:rPr>
              <a:t>   A rating or a written answer. No maximum.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Every form gets an ID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00" b="0">
                <a:solidFill>
                  <a:srgbClr val="55606E"/>
                </a:solidFill>
                <a:latin typeface="Calibri"/>
              </a:rPr>
              <a:t>   Such as FB-2026-0001, to quote in conversation.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ANALYSIS — RATINGS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Everything an average on its own would hide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80795" y="2139315"/>
            <a:ext cx="5468010" cy="395097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analysis-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320" y="2148840"/>
            <a:ext cx="544896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2240280"/>
            <a:ext cx="3657600" cy="3794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Mean, median, range and spread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The distribution across every rating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>
                <a:solidFill>
                  <a:srgbClr val="55606E"/>
                </a:solidFill>
                <a:latin typeface="Calibri"/>
              </a:rPr>
              <a:t>   Shape you can see rather than infer.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An agreement score from 0 to 1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>
                <a:solidFill>
                  <a:srgbClr val="55606E"/>
                </a:solidFill>
                <a:latin typeface="Calibri"/>
              </a:rPr>
              <a:t>   Did they actually agree, or just average out?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Outliers, found robustly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>
                <a:solidFill>
                  <a:srgbClr val="55606E"/>
                </a:solidFill>
                <a:latin typeface="Calibri"/>
              </a:rPr>
              <a:t>   Measured against the median, so one extreme rating cannot hide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3300" b="1">
                <a:solidFill>
                  <a:srgbClr val="FFFFFF"/>
                </a:solidFill>
                <a:latin typeface="Calibri"/>
              </a:rPr>
              <a:t>An average of 5 can mean everyone shrugged —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3300" b="1">
                <a:solidFill>
                  <a:srgbClr val="FFFFFF"/>
                </a:solidFill>
                <a:latin typeface="Calibri"/>
              </a:rPr>
              <a:t>or that half the flight thought it outstanding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Calibri"/>
              </a:rPr>
              <a:t>and half thought it harmful.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118872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Same number. Opposite situations. Only one of them needs acting on.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TOP-Feedback finds the split, says so plainly, and tells you the average describes nobody — so you read both groups instead of the middle.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ANALYSIS — WRITTEN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Read the ones that matter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539496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600" b="1">
                <a:solidFill>
                  <a:srgbClr val="14181F"/>
                </a:solidFill>
                <a:latin typeface="Calibri"/>
              </a:rPr>
              <a:t>Sentiment, ranked most negative first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b="0">
                <a:solidFill>
                  <a:srgbClr val="55606E"/>
                </a:solidFill>
                <a:latin typeface="Calibri"/>
              </a:rPr>
              <a:t>   Handles negation and emphasis, so 'not helpful' and 'extremely helpful' both score correctly.</a:t>
            </a:r>
          </a:p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600" b="1">
                <a:solidFill>
                  <a:srgbClr val="14181F"/>
                </a:solidFill>
                <a:latin typeface="Calibri"/>
              </a:rPr>
              <a:t>Every answer is shown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b="0">
                <a:solidFill>
                  <a:srgbClr val="55606E"/>
                </a:solidFill>
                <a:latin typeface="Calibri"/>
              </a:rPr>
              <a:t>   Answers the word list cannot read are labelled, never hidden.</a:t>
            </a:r>
          </a:p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600" b="1">
                <a:solidFill>
                  <a:srgbClr val="14181F"/>
                </a:solidFill>
                <a:latin typeface="Calibri"/>
              </a:rPr>
              <a:t>It runs on the device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b="0">
                <a:solidFill>
                  <a:srgbClr val="55606E"/>
                </a:solidFill>
                <a:latin typeface="Calibri"/>
              </a:rPr>
              <a:t>   No cloud service sees your cadets' words. That is why it is a word list and not a model, and the accuracy limits are stated on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36995" y="2515985"/>
            <a:ext cx="4956810" cy="274042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525510"/>
            <a:ext cx="4937760" cy="27213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5760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8A939F"/>
                </a:solidFill>
                <a:latin typeface="Calibri"/>
              </a:rPr>
              <a:t>Word cloud sized by how many people used a word, not how often it appears.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A02724"/>
                </a:solidFill>
                <a:latin typeface="Calibri"/>
              </a:rPr>
              <a:t>SAFETY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Nothing important sits unread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435" y="2817322"/>
            <a:ext cx="6785610" cy="25949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26847"/>
            <a:ext cx="6766560" cy="2575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2240280"/>
            <a:ext cx="3474720" cy="3794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Every written answer is screened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>
                <a:solidFill>
                  <a:srgbClr val="55606E"/>
                </a:solidFill>
                <a:latin typeface="Calibri"/>
              </a:rPr>
              <a:t>   Hazing, sexual harassment, discrimination, violence, self-harm, substances, integrity.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Matches are highlighted in context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>
                <a:solidFill>
                  <a:srgbClr val="14181F"/>
                </a:solidFill>
                <a:latin typeface="Calibri"/>
              </a:rPr>
              <a:t>A prompt, never a finding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>
                <a:solidFill>
                  <a:srgbClr val="55606E"/>
                </a:solidFill>
                <a:latin typeface="Calibri"/>
              </a:rPr>
              <a:t>   It cannot tell 'we discussed hazing prevention' from 'I was hazed'. A person reads it and decides.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ANONYMITY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Anonymous, and still able to chase people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324612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3246120" cy="50292"/>
          </a:xfrm>
          <a:prstGeom prst="rect">
            <a:avLst/>
          </a:prstGeom>
          <a:solidFill>
            <a:srgbClr val="1C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33856" y="2578608"/>
            <a:ext cx="2624328" cy="2130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900" b="1">
                <a:solidFill>
                  <a:srgbClr val="14181F"/>
                </a:solidFill>
                <a:latin typeface="Calibri"/>
              </a:rPr>
              <a:t>How it works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5606E"/>
                </a:solidFill>
                <a:latin typeface="Calibri"/>
              </a:rPr>
              <a:t>The cadet signs in, so the app knows who they are. It writes a receipt in a separate folder, then drops the name. The response itself carries no identity.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2194560"/>
            <a:ext cx="324612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453128" y="2194560"/>
            <a:ext cx="3246120" cy="50292"/>
          </a:xfrm>
          <a:prstGeom prst="rect">
            <a:avLst/>
          </a:prstGeom>
          <a:solidFill>
            <a:srgbClr val="1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64024" y="2578608"/>
            <a:ext cx="2624328" cy="2130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900" b="1">
                <a:solidFill>
                  <a:srgbClr val="14181F"/>
                </a:solidFill>
                <a:latin typeface="Calibri"/>
              </a:rPr>
              <a:t>What that buys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5606E"/>
                </a:solidFill>
                <a:latin typeface="Calibri"/>
              </a:rPr>
              <a:t>You can say 'two cadets still owe feedback' about responses nobody can attribute — and nobody can submit twice.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2194560"/>
            <a:ext cx="324612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083296" y="2194560"/>
            <a:ext cx="3246120" cy="50292"/>
          </a:xfrm>
          <a:prstGeom prst="rect">
            <a:avLst/>
          </a:prstGeom>
          <a:solidFill>
            <a:srgbClr val="8A5A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94192" y="2578608"/>
            <a:ext cx="2624328" cy="2130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900" b="1">
                <a:solidFill>
                  <a:srgbClr val="14181F"/>
                </a:solidFill>
                <a:latin typeface="Calibri"/>
              </a:rPr>
              <a:t>The honest limit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5606E"/>
                </a:solidFill>
                <a:latin typeface="Calibri"/>
              </a:rPr>
              <a:t>With very few responses a single answer can be identified by elimination. So anonymous results stay hidden until three people have responded.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14181F"/>
                </a:solidFill>
                <a:latin typeface="Calibri"/>
              </a:rPr>
              <a:t>Safety flags are the deliberate exception: a disclosure cannot wait for a third response, so the app tells you one exists and warns that opening it may identify the author.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C4F8B"/>
                </a:solidFill>
                <a:latin typeface="Calibri"/>
              </a:rPr>
              <a:t>RUNNING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b="1">
                <a:solidFill>
                  <a:srgbClr val="14181F"/>
                </a:solidFill>
                <a:latin typeface="Calibri"/>
              </a:rPr>
              <a:t>Accounts your detachment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>
                <a:solidFill>
                  <a:srgbClr val="55606E"/>
                </a:solidFill>
                <a:latin typeface="Calibri"/>
              </a:rPr>
              <a:t>Add cadets one at a time or import a whole class by CSV. Passwords are generated and handed to you once.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18830" y="2550795"/>
            <a:ext cx="2723859" cy="3448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55" y="2560320"/>
            <a:ext cx="2704809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81360" y="63276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8A939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91440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232257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900" b="1">
                <a:solidFill>
                  <a:srgbClr val="1C4F8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221992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Create the folder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 Google account the detachment owns, and a folder named TOP-Feedback.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3832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346557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900" b="1">
                <a:solidFill>
                  <a:srgbClr val="1C4F8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364992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Register the app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One free Google Cloud project, so the app can reach that Drive. About ten minutes.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460857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900" b="1">
                <a:solidFill>
                  <a:srgbClr val="1C4F8B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507992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Run the wizard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Paste the folder link, create your administrator account, add cadets.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806440"/>
            <a:ext cx="1042416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Step by step, with screenshots: TOP-Feedback Setup Guide (PDF).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