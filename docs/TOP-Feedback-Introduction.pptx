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primer, not a training session. Three things to land: there is no vendor and no server; the detachment owns the data; and it turns feedback into something an instructor can act on rather than a stack of 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answer the questions always asked first: where does the data go, what do I need to run it, and what does it cost.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before the product. The last bullet is the one a commander cares about most.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procurement answer: no lock-in, no data processor, no contract. Stress that folder sharing is the real access control.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that access follows rank, and that it is enforced rather than assumed. Cadre and commander areas are separate folders on the detachment's Drive, not hidden screens — an instructor cannot reach commander feedback by opening Drive directly, because the server will not open that folder for them. At most two commanders at a time, so a change of command overlaps.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cadet sees their own list, not everything the detachment ever issued. Scheduled forms stay hidden until they open; overdue ones close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sits at 5, the true centre of a 1-9 scale. Instructors see the word and the number together; cadets only ever see the word.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Classroom wifi is unreliable — that is the whole reason for the offline queue. Reading existing feedback still needs a connection.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Feedback and Feedback Response and Analysis are the headline actions. The tabs underneath hold forms, students and database tools.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deliberately narrow. That constraint is exactly what makes results comparable between events, cohorts and terms.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distribution in the screenshot. It is bimodal — the mean of 5.75 describes nobody who was actually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single argument for the analysis over a spreadsheet. A spreadsheet gives you the mean and stops there.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about the limits in the room: it reads words, not meaning. It decides what you read first; it does not read for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limits out loud: it matches words, not meaning, and a clear screen is not proof that nothing was reported. Follow detachment reporting procedures either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this question. The receipt-versus-response separation is the whole design, and the three-response threshold is the honest limit of the maths.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dwelling on for a cadre audience: there is nothing to distribute and nothing to reset. Cadets travel in from several schools, so there is no one campus login to key on, but they all already have a Google account because that is where we mail them. Being on this list is what grants access, and that is your decision.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objection that kills tools like this: 'my cadets will never set that up'. They do not have to. The link carries the configuration, so there is no Client ID or folder address in anybody's hands but yours. Worth demonstrating live if there is a screen in the room — it takes about ten seconds and it lands better than any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a commander will care about most, and the one no general purpose survey tool offers. Every other screen answers 'how did the event go'. This answers 'how is this person doing', across a term, without anyone compiling a spreadsheet. Say plainly that it is not a ranking, and that the app says so on the screen — response counts and cohorts differ, and an average of nine ordinal points is not a performance score. It also withholds anyone under three responses, counting their total rather than each form, because two responses across two forms is still two identifiable cadets.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the data question early from anyone senior. The answer is that there is no vendor holding anything: the records sit in the detachment's own Drive, and the maintainer's role is the source code. The strongest single fact here is that after setup, nobody but the folder owner has access to the folder at all — cadets and cadre both go through the detachment's own server. That is unusual, and it is worth saying slowly.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here. Anyone who will actually perform the install should be given the setup guide PDF rather than this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4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822960" y="1234440"/>
            <a:ext cx="822960" cy="82296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1344168"/>
            <a:ext cx="822960" cy="603504"/>
          </a:xfrm>
          <a:prstGeom prst="rect">
            <a:avLst/>
          </a:prstGeom>
          <a:noFill/>
        </p:spPr>
        <p:txBody>
          <a:bodyPr wrap="square" anchor="t" lIns="0" rIns="0" tIns="0" bIns="0">
            <a:noAutofit/>
          </a:bodyPr>
          <a:lstStyle/>
          <a:p>
            <a:pPr algn="ctr">
              <a:lnSpc>
                <a:spcPct val="122000"/>
              </a:lnSpc>
              <a:spcAft>
                <a:spcPts val="0"/>
              </a:spcAft>
            </a:pPr>
            <a:r>
              <a:rPr sz="3800" b="1">
                <a:solidFill>
                  <a:srgbClr val="1C4F8B"/>
                </a:solidFill>
                <a:latin typeface="Calibri"/>
              </a:rPr>
              <a:t>✓</a:t>
            </a:r>
          </a:p>
        </p:txBody>
      </p:sp>
      <p:sp>
        <p:nvSpPr>
          <p:cNvPr id="5" name="TextBox 4"/>
          <p:cNvSpPr txBox="1"/>
          <p:nvPr/>
        </p:nvSpPr>
        <p:spPr>
          <a:xfrm>
            <a:off x="822960" y="2606040"/>
            <a:ext cx="10058400" cy="1143000"/>
          </a:xfrm>
          <a:prstGeom prst="rect">
            <a:avLst/>
          </a:prstGeom>
          <a:noFill/>
        </p:spPr>
        <p:txBody>
          <a:bodyPr wrap="square" anchor="t" lIns="0" rIns="0" tIns="0" bIns="0">
            <a:noAutofit/>
          </a:bodyPr>
          <a:lstStyle/>
          <a:p>
            <a:pPr algn="l">
              <a:lnSpc>
                <a:spcPct val="122000"/>
              </a:lnSpc>
              <a:spcAft>
                <a:spcPts val="0"/>
              </a:spcAft>
            </a:pPr>
            <a:r>
              <a:rPr sz="5800" b="1">
                <a:solidFill>
                  <a:srgbClr val="FFFFFF"/>
                </a:solidFill>
                <a:latin typeface="Calibri"/>
              </a:rPr>
              <a:t>TOP-Feedback</a:t>
            </a:r>
          </a:p>
        </p:txBody>
      </p:sp>
      <p:sp>
        <p:nvSpPr>
          <p:cNvPr id="6" name="TextBox 5"/>
          <p:cNvSpPr txBox="1"/>
          <p:nvPr/>
        </p:nvSpPr>
        <p:spPr>
          <a:xfrm>
            <a:off x="822960" y="3840480"/>
            <a:ext cx="8961120" cy="1005840"/>
          </a:xfrm>
          <a:prstGeom prst="rect">
            <a:avLst/>
          </a:prstGeom>
          <a:noFill/>
        </p:spPr>
        <p:txBody>
          <a:bodyPr wrap="square" anchor="t" lIns="0" rIns="0" tIns="0" bIns="0">
            <a:noAutofit/>
          </a:bodyPr>
          <a:lstStyle/>
          <a:p>
            <a:pPr algn="l">
              <a:lnSpc>
                <a:spcPct val="122000"/>
              </a:lnSpc>
              <a:spcAft>
                <a:spcPts val="500"/>
              </a:spcAft>
            </a:pPr>
            <a:r>
              <a:rPr sz="2200" b="0">
                <a:solidFill>
                  <a:srgbClr val="FFFFFF"/>
                </a:solidFill>
                <a:latin typeface="Calibri"/>
              </a:rPr>
              <a:t>The student and instructor feedback cycle,</a:t>
            </a:r>
          </a:p>
          <a:p>
            <a:pPr algn="l">
              <a:lnSpc>
                <a:spcPct val="122000"/>
              </a:lnSpc>
              <a:spcAft>
                <a:spcPts val="0"/>
              </a:spcAft>
            </a:pPr>
            <a:r>
              <a:rPr sz="2200" b="0">
                <a:solidFill>
                  <a:srgbClr val="FFFFFF"/>
                </a:solidFill>
                <a:latin typeface="Calibri"/>
              </a:rPr>
              <a:t>owned entirely by your detachment.</a:t>
            </a:r>
          </a:p>
        </p:txBody>
      </p:sp>
      <p:sp>
        <p:nvSpPr>
          <p:cNvPr id="7" name="Rectangle 6"/>
          <p:cNvSpPr/>
          <p:nvPr/>
        </p:nvSpPr>
        <p:spPr>
          <a:xfrm>
            <a:off x="822960" y="5230368"/>
            <a:ext cx="1051560" cy="285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5486400"/>
            <a:ext cx="9144000" cy="411480"/>
          </a:xfrm>
          <a:prstGeom prst="rect">
            <a:avLst/>
          </a:prstGeom>
          <a:noFill/>
        </p:spPr>
        <p:txBody>
          <a:bodyPr wrap="square" anchor="t" lIns="0" rIns="0" tIns="0" bIns="0">
            <a:noAutofit/>
          </a:bodyPr>
          <a:lstStyle/>
          <a:p>
            <a:pPr algn="l">
              <a:lnSpc>
                <a:spcPct val="122000"/>
              </a:lnSpc>
              <a:spcAft>
                <a:spcPts val="0"/>
              </a:spcAft>
            </a:pPr>
            <a:r>
              <a:rPr sz="1500" b="0">
                <a:solidFill>
                  <a:srgbClr val="FFFFFF"/>
                </a:solidFill>
                <a:latin typeface="Calibri"/>
              </a:rPr>
              <a:t>An introduction — what it is, what it does, and how it is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WHAT IT IS</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000" b="1">
                <a:solidFill>
                  <a:srgbClr val="14181F"/>
                </a:solidFill>
                <a:latin typeface="Calibri"/>
              </a:rPr>
              <a:t>A feedback app that stores nothing on anyone else's computer</a:t>
            </a:r>
          </a:p>
        </p:txBody>
      </p:sp>
      <p:sp>
        <p:nvSpPr>
          <p:cNvPr id="4" name="TextBox 3"/>
          <p:cNvSpPr txBox="1"/>
          <p:nvPr/>
        </p:nvSpPr>
        <p:spPr>
          <a:xfrm>
            <a:off x="822960" y="1938528"/>
            <a:ext cx="10424160" cy="914400"/>
          </a:xfrm>
          <a:prstGeom prst="rect">
            <a:avLst/>
          </a:prstGeom>
          <a:noFill/>
        </p:spPr>
        <p:txBody>
          <a:bodyPr wrap="square" anchor="t" lIns="0" rIns="0" tIns="0" bIns="0">
            <a:noAutofit/>
          </a:bodyPr>
          <a:lstStyle/>
          <a:p>
            <a:pPr algn="l">
              <a:lnSpc>
                <a:spcPct val="122000"/>
              </a:lnSpc>
              <a:spcAft>
                <a:spcPts val="0"/>
              </a:spcAft>
            </a:pPr>
            <a:r>
              <a:rPr sz="1800" b="0">
                <a:solidFill>
                  <a:srgbClr val="55606E"/>
                </a:solidFill>
                <a:latin typeface="Calibri"/>
              </a:rPr>
              <a:t>Cadets answer a short form on their phone. Instructors see the results analysed, not just listed. Every record is written to a Google Drive folder your detachment already owns.</a:t>
            </a:r>
          </a:p>
        </p:txBody>
      </p:sp>
      <p:sp>
        <p:nvSpPr>
          <p:cNvPr id="5" name="Rounded Rectangle 4"/>
          <p:cNvSpPr/>
          <p:nvPr/>
        </p:nvSpPr>
        <p:spPr>
          <a:xfrm>
            <a:off x="822960" y="3017520"/>
            <a:ext cx="3246120" cy="2514600"/>
          </a:xfrm>
          <a:prstGeom prst="roundRect">
            <a:avLst>
              <a:gd name="adj" fmla="val 4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822960" y="3017520"/>
            <a:ext cx="3246120" cy="50292"/>
          </a:xfrm>
          <a:prstGeom prst="rect">
            <a:avLst/>
          </a:prstGeom>
          <a:solidFill>
            <a:srgbClr val="1C4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 y="3401568"/>
            <a:ext cx="2624328" cy="1856232"/>
          </a:xfrm>
          <a:prstGeom prst="rect">
            <a:avLst/>
          </a:prstGeom>
          <a:noFill/>
        </p:spPr>
        <p:txBody>
          <a:bodyPr wrap="square" anchor="t" lIns="0" rIns="0" tIns="0" bIns="0">
            <a:noAutofit/>
          </a:bodyPr>
          <a:lstStyle/>
          <a:p>
            <a:pPr algn="l">
              <a:lnSpc>
                <a:spcPct val="122000"/>
              </a:lnSpc>
              <a:spcAft>
                <a:spcPts val="1000"/>
              </a:spcAft>
            </a:pPr>
            <a:r>
              <a:rPr sz="1900" b="1">
                <a:solidFill>
                  <a:srgbClr val="14181F"/>
                </a:solidFill>
                <a:latin typeface="Calibri"/>
              </a:rPr>
              <a:t>Your Google account</a:t>
            </a:r>
          </a:p>
          <a:p>
            <a:pPr algn="l">
              <a:lnSpc>
                <a:spcPct val="122000"/>
              </a:lnSpc>
              <a:spcAft>
                <a:spcPts val="0"/>
              </a:spcAft>
            </a:pPr>
            <a:r>
              <a:rPr sz="1400" b="0">
                <a:solidFill>
                  <a:srgbClr val="55606E"/>
                </a:solidFill>
                <a:latin typeface="Calibri"/>
              </a:rPr>
              <a:t>No vendor holds your data, because no vendor is involved. If you stop using the app, every response is still sitting in your Drive.</a:t>
            </a:r>
          </a:p>
        </p:txBody>
      </p:sp>
      <p:sp>
        <p:nvSpPr>
          <p:cNvPr id="8" name="Rounded Rectangle 7"/>
          <p:cNvSpPr/>
          <p:nvPr/>
        </p:nvSpPr>
        <p:spPr>
          <a:xfrm>
            <a:off x="4453128" y="3017520"/>
            <a:ext cx="3246120" cy="2514600"/>
          </a:xfrm>
          <a:prstGeom prst="roundRect">
            <a:avLst>
              <a:gd name="adj" fmla="val 4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453128" y="3017520"/>
            <a:ext cx="3246120" cy="50292"/>
          </a:xfrm>
          <a:prstGeom prst="rect">
            <a:avLst/>
          </a:prstGeom>
          <a:solidFill>
            <a:srgbClr val="1C4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64024" y="3401568"/>
            <a:ext cx="2624328" cy="1856232"/>
          </a:xfrm>
          <a:prstGeom prst="rect">
            <a:avLst/>
          </a:prstGeom>
          <a:noFill/>
        </p:spPr>
        <p:txBody>
          <a:bodyPr wrap="square" anchor="t" lIns="0" rIns="0" tIns="0" bIns="0">
            <a:noAutofit/>
          </a:bodyPr>
          <a:lstStyle/>
          <a:p>
            <a:pPr algn="l">
              <a:lnSpc>
                <a:spcPct val="122000"/>
              </a:lnSpc>
              <a:spcAft>
                <a:spcPts val="1000"/>
              </a:spcAft>
            </a:pPr>
            <a:r>
              <a:rPr sz="1900" b="1">
                <a:solidFill>
                  <a:srgbClr val="14181F"/>
                </a:solidFill>
                <a:latin typeface="Calibri"/>
              </a:rPr>
              <a:t>Any device</a:t>
            </a:r>
          </a:p>
          <a:p>
            <a:pPr algn="l">
              <a:lnSpc>
                <a:spcPct val="122000"/>
              </a:lnSpc>
              <a:spcAft>
                <a:spcPts val="0"/>
              </a:spcAft>
            </a:pPr>
            <a:r>
              <a:rPr sz="1400" b="0">
                <a:solidFill>
                  <a:srgbClr val="55606E"/>
                </a:solidFill>
                <a:latin typeface="Calibri"/>
              </a:rPr>
              <a:t>Runs in a browser and installs to a phone home screen. Works with no signal and sends when the connection returns.</a:t>
            </a:r>
          </a:p>
        </p:txBody>
      </p:sp>
      <p:sp>
        <p:nvSpPr>
          <p:cNvPr id="11" name="Rounded Rectangle 10"/>
          <p:cNvSpPr/>
          <p:nvPr/>
        </p:nvSpPr>
        <p:spPr>
          <a:xfrm>
            <a:off x="8083296" y="3017520"/>
            <a:ext cx="3246120" cy="2514600"/>
          </a:xfrm>
          <a:prstGeom prst="roundRect">
            <a:avLst>
              <a:gd name="adj" fmla="val 4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083296" y="3017520"/>
            <a:ext cx="3246120" cy="50292"/>
          </a:xfrm>
          <a:prstGeom prst="rect">
            <a:avLst/>
          </a:prstGeom>
          <a:solidFill>
            <a:srgbClr val="1C4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94192" y="3401568"/>
            <a:ext cx="2624328" cy="1856232"/>
          </a:xfrm>
          <a:prstGeom prst="rect">
            <a:avLst/>
          </a:prstGeom>
          <a:noFill/>
        </p:spPr>
        <p:txBody>
          <a:bodyPr wrap="square" anchor="t" lIns="0" rIns="0" tIns="0" bIns="0">
            <a:noAutofit/>
          </a:bodyPr>
          <a:lstStyle/>
          <a:p>
            <a:pPr algn="l">
              <a:lnSpc>
                <a:spcPct val="122000"/>
              </a:lnSpc>
              <a:spcAft>
                <a:spcPts val="1000"/>
              </a:spcAft>
            </a:pPr>
            <a:r>
              <a:rPr sz="1900" b="1">
                <a:solidFill>
                  <a:srgbClr val="14181F"/>
                </a:solidFill>
                <a:latin typeface="Calibri"/>
              </a:rPr>
              <a:t>Nothing to buy</a:t>
            </a:r>
          </a:p>
          <a:p>
            <a:pPr algn="l">
              <a:lnSpc>
                <a:spcPct val="122000"/>
              </a:lnSpc>
              <a:spcAft>
                <a:spcPts val="0"/>
              </a:spcAft>
            </a:pPr>
            <a:r>
              <a:rPr sz="1400" b="0">
                <a:solidFill>
                  <a:srgbClr val="55606E"/>
                </a:solidFill>
                <a:latin typeface="Calibri"/>
              </a:rPr>
              <a:t>No licences, no subscription, no server to maintain. Setup is a Drive folder and about 45 minutes, once.</a:t>
            </a:r>
          </a:p>
        </p:txBody>
      </p:sp>
      <p:sp>
        <p:nvSpPr>
          <p:cNvPr id="14" name="TextBox 13"/>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WHY IT EXISTS</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Feedback nobody can act on</a:t>
            </a:r>
          </a:p>
        </p:txBody>
      </p:sp>
      <p:sp>
        <p:nvSpPr>
          <p:cNvPr id="4" name="TextBox 3"/>
          <p:cNvSpPr txBox="1"/>
          <p:nvPr/>
        </p:nvSpPr>
        <p:spPr>
          <a:xfrm>
            <a:off x="822960" y="2103120"/>
            <a:ext cx="5394960" cy="3566160"/>
          </a:xfrm>
          <a:prstGeom prst="rect">
            <a:avLst/>
          </a:prstGeom>
          <a:noFill/>
        </p:spPr>
        <p:txBody>
          <a:bodyPr wrap="square" anchor="t" lIns="0" rIns="0" tIns="0" bIns="0">
            <a:noAutofit/>
          </a:bodyPr>
          <a:lstStyle/>
          <a:p>
            <a:pPr algn="l">
              <a:lnSpc>
                <a:spcPct val="122000"/>
              </a:lnSpc>
              <a:spcAft>
                <a:spcPts val="2200"/>
              </a:spcAft>
            </a:pPr>
            <a:r>
              <a:rPr sz="1800" b="1">
                <a:solidFill>
                  <a:srgbClr val="14181F"/>
                </a:solidFill>
                <a:latin typeface="Calibri"/>
              </a:rPr>
              <a:t>Paper forms get collected, stacked, and never counted.</a:t>
            </a:r>
          </a:p>
          <a:p>
            <a:pPr algn="l">
              <a:lnSpc>
                <a:spcPct val="122000"/>
              </a:lnSpc>
              <a:spcAft>
                <a:spcPts val="2200"/>
              </a:spcAft>
            </a:pPr>
            <a:r>
              <a:rPr sz="1800" b="1">
                <a:solidFill>
                  <a:srgbClr val="14181F"/>
                </a:solidFill>
                <a:latin typeface="Calibri"/>
              </a:rPr>
              <a:t>Survey tools put cadet feedback on a company's servers.</a:t>
            </a:r>
          </a:p>
          <a:p>
            <a:pPr algn="l">
              <a:lnSpc>
                <a:spcPct val="122000"/>
              </a:lnSpc>
              <a:spcAft>
                <a:spcPts val="2200"/>
              </a:spcAft>
            </a:pPr>
            <a:r>
              <a:rPr sz="1800" b="1">
                <a:solidFill>
                  <a:srgbClr val="14181F"/>
                </a:solidFill>
                <a:latin typeface="Calibri"/>
              </a:rPr>
              <a:t>An average hides the very thing you needed to see.</a:t>
            </a:r>
          </a:p>
          <a:p>
            <a:pPr algn="l">
              <a:lnSpc>
                <a:spcPct val="122000"/>
              </a:lnSpc>
              <a:spcAft>
                <a:spcPts val="2200"/>
              </a:spcAft>
            </a:pPr>
            <a:r>
              <a:rPr sz="1800" b="1">
                <a:solidFill>
                  <a:srgbClr val="14181F"/>
                </a:solidFill>
                <a:latin typeface="Calibri"/>
              </a:rPr>
              <a:t>A disclosure of hazing can sit unread in a pile for weeks.</a:t>
            </a:r>
          </a:p>
        </p:txBody>
      </p:sp>
      <p:sp>
        <p:nvSpPr>
          <p:cNvPr id="5" name="Rounded Rectangle 4"/>
          <p:cNvSpPr/>
          <p:nvPr/>
        </p:nvSpPr>
        <p:spPr>
          <a:xfrm>
            <a:off x="6629400" y="2011680"/>
            <a:ext cx="4754880" cy="3200400"/>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040880" y="2395728"/>
            <a:ext cx="3931920" cy="2468880"/>
          </a:xfrm>
          <a:prstGeom prst="rect">
            <a:avLst/>
          </a:prstGeom>
          <a:noFill/>
        </p:spPr>
        <p:txBody>
          <a:bodyPr wrap="square" anchor="t" lIns="0" rIns="0" tIns="0" bIns="0">
            <a:noAutofit/>
          </a:bodyPr>
          <a:lstStyle/>
          <a:p>
            <a:pPr algn="l">
              <a:lnSpc>
                <a:spcPct val="122000"/>
              </a:lnSpc>
              <a:spcAft>
                <a:spcPts val="1200"/>
              </a:spcAft>
            </a:pPr>
            <a:r>
              <a:rPr sz="1600" b="1">
                <a:solidFill>
                  <a:srgbClr val="1C4F8B"/>
                </a:solidFill>
                <a:latin typeface="Calibri"/>
              </a:rPr>
              <a:t>What it replaces</a:t>
            </a:r>
          </a:p>
          <a:p>
            <a:pPr algn="l">
              <a:lnSpc>
                <a:spcPct val="122000"/>
              </a:lnSpc>
              <a:spcAft>
                <a:spcPts val="1200"/>
              </a:spcAft>
            </a:pPr>
            <a:r>
              <a:rPr sz="1500" b="0">
                <a:solidFill>
                  <a:srgbClr val="14181F"/>
                </a:solidFill>
                <a:latin typeface="Calibri"/>
              </a:rPr>
              <a:t>One app that issues the form, collects the responses, runs the statistics, reads the written answers, and flags anything a person needs to see today.</a:t>
            </a:r>
          </a:p>
          <a:p>
            <a:pPr algn="l">
              <a:lnSpc>
                <a:spcPct val="122000"/>
              </a:lnSpc>
              <a:spcAft>
                <a:spcPts val="0"/>
              </a:spcAft>
            </a:pPr>
            <a:r>
              <a:rPr sz="1500" b="1">
                <a:solidFill>
                  <a:srgbClr val="14181F"/>
                </a:solidFill>
                <a:latin typeface="Calibri"/>
              </a:rPr>
              <a:t>On a phone. Offline. At no cost.</a:t>
            </a:r>
          </a:p>
        </p:txBody>
      </p:sp>
      <p:sp>
        <p:nvSpPr>
          <p:cNvPr id="7" name="TextBox 6"/>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WHERE THE DATA LIVES</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Your folder is the database</a:t>
            </a:r>
          </a:p>
        </p:txBody>
      </p:sp>
      <p:sp>
        <p:nvSpPr>
          <p:cNvPr id="4" name="TextBox 3"/>
          <p:cNvSpPr txBox="1"/>
          <p:nvPr/>
        </p:nvSpPr>
        <p:spPr>
          <a:xfrm>
            <a:off x="822960" y="1783080"/>
            <a:ext cx="9966960" cy="566928"/>
          </a:xfrm>
          <a:prstGeom prst="rect">
            <a:avLst/>
          </a:prstGeom>
          <a:noFill/>
        </p:spPr>
        <p:txBody>
          <a:bodyPr wrap="square" anchor="t" lIns="0" rIns="0" tIns="0" bIns="0">
            <a:noAutofit/>
          </a:bodyPr>
          <a:lstStyle/>
          <a:p>
            <a:pPr algn="l">
              <a:lnSpc>
                <a:spcPct val="122000"/>
              </a:lnSpc>
              <a:spcAft>
                <a:spcPts val="0"/>
              </a:spcAft>
            </a:pPr>
            <a:r>
              <a:rPr sz="1600" b="0">
                <a:solidFill>
                  <a:srgbClr val="55606E"/>
                </a:solidFill>
                <a:latin typeface="Calibri"/>
              </a:rPr>
              <a:t>Each record is a plain file you can open in Drive — nothing is locked in a format only this app can read.</a:t>
            </a:r>
          </a:p>
        </p:txBody>
      </p:sp>
      <p:sp>
        <p:nvSpPr>
          <p:cNvPr id="5" name="Rounded Rectangle 4"/>
          <p:cNvSpPr/>
          <p:nvPr/>
        </p:nvSpPr>
        <p:spPr>
          <a:xfrm>
            <a:off x="822960" y="2514600"/>
            <a:ext cx="5486400" cy="3200400"/>
          </a:xfrm>
          <a:prstGeom prst="roundRect">
            <a:avLst>
              <a:gd name="adj" fmla="val 3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43000" y="2743200"/>
            <a:ext cx="4937760" cy="2743200"/>
          </a:xfrm>
          <a:prstGeom prst="rect">
            <a:avLst/>
          </a:prstGeom>
          <a:noFill/>
        </p:spPr>
        <p:txBody>
          <a:bodyPr wrap="none" lIns="0" rIns="0" tIns="0" bIns="0">
            <a:noAutofit/>
          </a:bodyPr>
          <a:lstStyle/>
          <a:p>
            <a:pPr>
              <a:spcAft>
                <a:spcPts val="300"/>
              </a:spcAft>
            </a:pPr>
            <a:r>
              <a:rPr sz="1100">
                <a:solidFill>
                  <a:srgbClr val="1C4F8B"/>
                </a:solidFill>
                <a:latin typeface="Courier New"/>
              </a:rPr>
              <a:t>TOP-Feedback/</a:t>
            </a:r>
          </a:p>
          <a:p>
            <a:pPr>
              <a:spcAft>
                <a:spcPts val="300"/>
              </a:spcAft>
            </a:pPr>
            <a:r>
              <a:rPr sz="1100">
                <a:solidFill>
                  <a:srgbClr val="55606E"/>
                </a:solidFill>
                <a:latin typeface="Courier New"/>
              </a:rPr>
              <a:t>   config/      detachment profile and settings</a:t>
            </a:r>
          </a:p>
          <a:p>
            <a:pPr>
              <a:spcAft>
                <a:spcPts val="300"/>
              </a:spcAft>
            </a:pPr>
            <a:r>
              <a:rPr sz="1100">
                <a:solidFill>
                  <a:srgbClr val="55606E"/>
                </a:solidFill>
                <a:latin typeface="Courier New"/>
              </a:rPr>
              <a:t>   users/       the roster: who may sign in, and as what</a:t>
            </a:r>
          </a:p>
          <a:p>
            <a:pPr>
              <a:spcAft>
                <a:spcPts val="300"/>
              </a:spcAft>
            </a:pPr>
            <a:r>
              <a:rPr sz="1100">
                <a:solidFill>
                  <a:srgbClr val="55606E"/>
                </a:solidFill>
                <a:latin typeface="Courier New"/>
              </a:rPr>
              <a:t>   forms/       feedback form definitions</a:t>
            </a:r>
          </a:p>
          <a:p>
            <a:pPr>
              <a:spcAft>
                <a:spcPts val="300"/>
              </a:spcAft>
            </a:pPr>
            <a:r>
              <a:rPr sz="1100">
                <a:solidFill>
                  <a:srgbClr val="55606E"/>
                </a:solidFill>
                <a:latin typeface="Courier New"/>
              </a:rPr>
              <a:t>   requests/    feedback issued, each with an ID</a:t>
            </a:r>
          </a:p>
          <a:p>
            <a:pPr>
              <a:spcAft>
                <a:spcPts val="300"/>
              </a:spcAft>
            </a:pPr>
            <a:r>
              <a:rPr sz="1100">
                <a:solidFill>
                  <a:srgbClr val="55606E"/>
                </a:solidFill>
                <a:latin typeface="Courier New"/>
              </a:rPr>
              <a:t>   responses/   submitted feedback</a:t>
            </a:r>
          </a:p>
          <a:p>
            <a:pPr>
              <a:spcAft>
                <a:spcPts val="300"/>
              </a:spcAft>
            </a:pPr>
            <a:r>
              <a:rPr sz="1100">
                <a:solidFill>
                  <a:srgbClr val="55606E"/>
                </a:solidFill>
                <a:latin typeface="Courier New"/>
              </a:rPr>
              <a:t>   receipts/    who submitted, kept apart from</a:t>
            </a:r>
          </a:p>
          <a:p>
            <a:pPr>
              <a:spcAft>
                <a:spcPts val="300"/>
              </a:spcAft>
            </a:pPr>
            <a:r>
              <a:rPr sz="1100">
                <a:solidFill>
                  <a:srgbClr val="55606E"/>
                </a:solidFill>
                <a:latin typeface="Courier New"/>
              </a:rPr>
              <a:t>                what they said</a:t>
            </a:r>
          </a:p>
          <a:p>
            <a:pPr>
              <a:spcAft>
                <a:spcPts val="300"/>
              </a:spcAft>
            </a:pPr>
            <a:r>
              <a:rPr sz="1100">
                <a:solidFill>
                  <a:srgbClr val="55606E"/>
                </a:solidFill>
                <a:latin typeface="Courier New"/>
              </a:rPr>
              <a:t>   reports/     exported reports</a:t>
            </a:r>
          </a:p>
        </p:txBody>
      </p:sp>
      <p:sp>
        <p:nvSpPr>
          <p:cNvPr id="7" name="TextBox 6"/>
          <p:cNvSpPr txBox="1"/>
          <p:nvPr/>
        </p:nvSpPr>
        <p:spPr>
          <a:xfrm>
            <a:off x="6766560" y="2606040"/>
            <a:ext cx="4572000" cy="3108960"/>
          </a:xfrm>
          <a:prstGeom prst="rect">
            <a:avLst/>
          </a:prstGeom>
          <a:noFill/>
        </p:spPr>
        <p:txBody>
          <a:bodyPr wrap="square" anchor="t" lIns="0" rIns="0" tIns="0" bIns="0">
            <a:noAutofit/>
          </a:bodyPr>
          <a:lstStyle/>
          <a:p>
            <a:pPr algn="l">
              <a:lnSpc>
                <a:spcPct val="122000"/>
              </a:lnSpc>
              <a:spcAft>
                <a:spcPts val="1600"/>
              </a:spcAft>
            </a:pPr>
            <a:r>
              <a:rPr sz="1600" b="1">
                <a:solidFill>
                  <a:srgbClr val="14181F"/>
                </a:solidFill>
                <a:latin typeface="Calibri"/>
              </a:rPr>
              <a:t>Stop using the app and you still have every response.</a:t>
            </a:r>
          </a:p>
          <a:p>
            <a:pPr algn="l">
              <a:lnSpc>
                <a:spcPct val="122000"/>
              </a:lnSpc>
              <a:spcAft>
                <a:spcPts val="1100"/>
              </a:spcAft>
            </a:pPr>
            <a:r>
              <a:rPr sz="1300" b="0">
                <a:solidFill>
                  <a:srgbClr val="55606E"/>
                </a:solidFill>
                <a:latin typeface="Calibri"/>
              </a:rPr>
              <a:t>   Readable in Drive, backed up by Google, recoverable from the trash for 30 days.</a:t>
            </a:r>
          </a:p>
          <a:p>
            <a:pPr algn="l">
              <a:lnSpc>
                <a:spcPct val="122000"/>
              </a:lnSpc>
              <a:spcAft>
                <a:spcPts val="1600"/>
              </a:spcAft>
            </a:pPr>
            <a:r>
              <a:rPr sz="1600" b="1">
                <a:solidFill>
                  <a:srgbClr val="14181F"/>
                </a:solidFill>
                <a:latin typeface="Calibri"/>
              </a:rPr>
              <a:t>Who can read the feedback is a Drive sharing setting.</a:t>
            </a:r>
          </a:p>
          <a:p>
            <a:pPr algn="l">
              <a:lnSpc>
                <a:spcPct val="122000"/>
              </a:lnSpc>
              <a:spcAft>
                <a:spcPts val="1100"/>
              </a:spcAft>
            </a:pPr>
            <a:r>
              <a:rPr sz="1300" b="0">
                <a:solidFill>
                  <a:srgbClr val="55606E"/>
                </a:solidFill>
                <a:latin typeface="Calibri"/>
              </a:rPr>
              <a:t>   Not a setting inside this app. That is the access control that actually matters.</a:t>
            </a:r>
          </a:p>
        </p:txBody>
      </p:sp>
      <p:sp>
        <p:nvSpPr>
          <p:cNvPr id="8" name="TextBox 7"/>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WHO USES IT</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Built around the chain of command</a:t>
            </a:r>
          </a:p>
        </p:txBody>
      </p:sp>
      <p:sp>
        <p:nvSpPr>
          <p:cNvPr id="4" name="Rectangle 3"/>
          <p:cNvSpPr/>
          <p:nvPr/>
        </p:nvSpPr>
        <p:spPr>
          <a:xfrm>
            <a:off x="988187" y="2002155"/>
            <a:ext cx="5247386" cy="3813809"/>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home.png"/>
          <p:cNvPicPr>
            <a:picLocks noChangeAspect="1"/>
          </p:cNvPicPr>
          <p:nvPr/>
        </p:nvPicPr>
        <p:blipFill>
          <a:blip r:embed="rId2"/>
          <a:stretch>
            <a:fillRect/>
          </a:stretch>
        </p:blipFill>
        <p:spPr>
          <a:xfrm>
            <a:off x="997712" y="2011680"/>
            <a:ext cx="5228336" cy="3794759"/>
          </a:xfrm>
          <a:prstGeom prst="rect">
            <a:avLst/>
          </a:prstGeom>
        </p:spPr>
      </p:pic>
      <p:sp>
        <p:nvSpPr>
          <p:cNvPr id="6" name="TextBox 5"/>
          <p:cNvSpPr txBox="1"/>
          <p:nvPr/>
        </p:nvSpPr>
        <p:spPr>
          <a:xfrm>
            <a:off x="6858000" y="2011680"/>
            <a:ext cx="4572000" cy="4023360"/>
          </a:xfrm>
          <a:prstGeom prst="rect">
            <a:avLst/>
          </a:prstGeom>
          <a:noFill/>
        </p:spPr>
        <p:txBody>
          <a:bodyPr wrap="square" anchor="t" lIns="0" rIns="0" tIns="0" bIns="0">
            <a:noAutofit/>
          </a:bodyPr>
          <a:lstStyle/>
          <a:p>
            <a:pPr algn="l">
              <a:lnSpc>
                <a:spcPct val="122000"/>
              </a:lnSpc>
              <a:spcAft>
                <a:spcPts val="900"/>
              </a:spcAft>
            </a:pPr>
            <a:r>
              <a:rPr sz="1500" b="1">
                <a:solidFill>
                  <a:srgbClr val="14181F"/>
                </a:solidFill>
                <a:latin typeface="Calibri"/>
              </a:rPr>
              <a:t>Cadet</a:t>
            </a:r>
          </a:p>
          <a:p>
            <a:pPr algn="l">
              <a:lnSpc>
                <a:spcPct val="122000"/>
              </a:lnSpc>
              <a:spcAft>
                <a:spcPts val="400"/>
              </a:spcAft>
            </a:pPr>
            <a:r>
              <a:rPr sz="1200" b="0">
                <a:solidFill>
                  <a:srgbClr val="55606E"/>
                </a:solidFill>
                <a:latin typeface="Calibri"/>
              </a:rPr>
              <a:t>   Sees only what is assigned to them. Submits once.</a:t>
            </a:r>
          </a:p>
          <a:p>
            <a:pPr algn="l">
              <a:lnSpc>
                <a:spcPct val="122000"/>
              </a:lnSpc>
              <a:spcAft>
                <a:spcPts val="900"/>
              </a:spcAft>
            </a:pPr>
            <a:r>
              <a:rPr sz="1500" b="1">
                <a:solidFill>
                  <a:srgbClr val="14181F"/>
                </a:solidFill>
                <a:latin typeface="Calibri"/>
              </a:rPr>
              <a:t>Instructor</a:t>
            </a:r>
          </a:p>
          <a:p>
            <a:pPr algn="l">
              <a:lnSpc>
                <a:spcPct val="122000"/>
              </a:lnSpc>
              <a:spcAft>
                <a:spcPts val="400"/>
              </a:spcAft>
            </a:pPr>
            <a:r>
              <a:rPr sz="1200" b="0">
                <a:solidFill>
                  <a:srgbClr val="55606E"/>
                </a:solidFill>
                <a:latin typeface="Calibri"/>
              </a:rPr>
              <a:t>   Creates feedback, reads responses, runs the analysis.</a:t>
            </a:r>
          </a:p>
          <a:p>
            <a:pPr algn="l">
              <a:lnSpc>
                <a:spcPct val="122000"/>
              </a:lnSpc>
              <a:spcAft>
                <a:spcPts val="900"/>
              </a:spcAft>
            </a:pPr>
            <a:r>
              <a:rPr sz="1500" b="1">
                <a:solidFill>
                  <a:srgbClr val="14181F"/>
                </a:solidFill>
                <a:latin typeface="Calibri"/>
              </a:rPr>
              <a:t>Cadre</a:t>
            </a:r>
          </a:p>
          <a:p>
            <a:pPr algn="l">
              <a:lnSpc>
                <a:spcPct val="122000"/>
              </a:lnSpc>
              <a:spcAft>
                <a:spcPts val="400"/>
              </a:spcAft>
            </a:pPr>
            <a:r>
              <a:rPr sz="1200" b="0">
                <a:solidFill>
                  <a:srgbClr val="55606E"/>
                </a:solidFill>
                <a:latin typeface="Calibri"/>
              </a:rPr>
              <a:t>   All of that, plus an area instructors cannot see.</a:t>
            </a:r>
          </a:p>
          <a:p>
            <a:pPr algn="l">
              <a:lnSpc>
                <a:spcPct val="122000"/>
              </a:lnSpc>
              <a:spcAft>
                <a:spcPts val="900"/>
              </a:spcAft>
            </a:pPr>
            <a:r>
              <a:rPr sz="1500" b="1">
                <a:solidFill>
                  <a:srgbClr val="14181F"/>
                </a:solidFill>
                <a:latin typeface="Calibri"/>
              </a:rPr>
              <a:t>Commander</a:t>
            </a:r>
          </a:p>
          <a:p>
            <a:pPr algn="l">
              <a:lnSpc>
                <a:spcPct val="122000"/>
              </a:lnSpc>
              <a:spcAft>
                <a:spcPts val="400"/>
              </a:spcAft>
            </a:pPr>
            <a:r>
              <a:rPr sz="1200" b="0">
                <a:solidFill>
                  <a:srgbClr val="55606E"/>
                </a:solidFill>
                <a:latin typeface="Calibri"/>
              </a:rPr>
              <a:t>   Sees every area, including one only they can read.</a:t>
            </a:r>
          </a:p>
          <a:p>
            <a:pPr algn="l">
              <a:lnSpc>
                <a:spcPct val="122000"/>
              </a:lnSpc>
              <a:spcAft>
                <a:spcPts val="900"/>
              </a:spcAft>
            </a:pPr>
            <a:r>
              <a:rPr sz="1500" b="1">
                <a:solidFill>
                  <a:srgbClr val="14181F"/>
                </a:solidFill>
                <a:latin typeface="Calibri"/>
              </a:rPr>
              <a:t>Database admin</a:t>
            </a:r>
          </a:p>
          <a:p>
            <a:pPr algn="l">
              <a:lnSpc>
                <a:spcPct val="122000"/>
              </a:lnSpc>
              <a:spcAft>
                <a:spcPts val="400"/>
              </a:spcAft>
            </a:pPr>
            <a:r>
              <a:rPr sz="1200" b="0">
                <a:solidFill>
                  <a:srgbClr val="55606E"/>
                </a:solidFill>
                <a:latin typeface="Calibri"/>
              </a:rPr>
              <a:t>   Keeps the roster. A separate job, often held alongside.</a:t>
            </a:r>
          </a:p>
        </p:txBody>
      </p:sp>
      <p:sp>
        <p:nvSpPr>
          <p:cNvPr id="7" name="TextBox 6"/>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FOR CADETS</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Only what is assigned to you</a:t>
            </a:r>
          </a:p>
        </p:txBody>
      </p:sp>
      <p:sp>
        <p:nvSpPr>
          <p:cNvPr id="4" name="TextBox 3"/>
          <p:cNvSpPr txBox="1"/>
          <p:nvPr/>
        </p:nvSpPr>
        <p:spPr>
          <a:xfrm>
            <a:off x="822960" y="1783080"/>
            <a:ext cx="9966960" cy="566928"/>
          </a:xfrm>
          <a:prstGeom prst="rect">
            <a:avLst/>
          </a:prstGeom>
          <a:noFill/>
        </p:spPr>
        <p:txBody>
          <a:bodyPr wrap="square" anchor="t" lIns="0" rIns="0" tIns="0" bIns="0">
            <a:noAutofit/>
          </a:bodyPr>
          <a:lstStyle/>
          <a:p>
            <a:pPr algn="l">
              <a:lnSpc>
                <a:spcPct val="122000"/>
              </a:lnSpc>
              <a:spcAft>
                <a:spcPts val="0"/>
              </a:spcAft>
            </a:pPr>
            <a:r>
              <a:rPr sz="1600" b="0">
                <a:solidFill>
                  <a:srgbClr val="55606E"/>
                </a:solidFill>
                <a:latin typeface="Calibri"/>
              </a:rPr>
              <a:t>Filtered by school year, semester, class and due date. Anything already submitted drops off the list.</a:t>
            </a:r>
          </a:p>
        </p:txBody>
      </p:sp>
      <p:sp>
        <p:nvSpPr>
          <p:cNvPr id="5" name="Rectangle 4"/>
          <p:cNvSpPr/>
          <p:nvPr/>
        </p:nvSpPr>
        <p:spPr>
          <a:xfrm>
            <a:off x="3646043" y="2505075"/>
            <a:ext cx="4869434" cy="3539490"/>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tudent-list.png"/>
          <p:cNvPicPr>
            <a:picLocks noChangeAspect="1"/>
          </p:cNvPicPr>
          <p:nvPr/>
        </p:nvPicPr>
        <p:blipFill>
          <a:blip r:embed="rId2"/>
          <a:stretch>
            <a:fillRect/>
          </a:stretch>
        </p:blipFill>
        <p:spPr>
          <a:xfrm>
            <a:off x="3655568" y="2514600"/>
            <a:ext cx="4850384" cy="3520440"/>
          </a:xfrm>
          <a:prstGeom prst="rect">
            <a:avLst/>
          </a:prstGeom>
        </p:spPr>
      </p:pic>
      <p:sp>
        <p:nvSpPr>
          <p:cNvPr id="7" name="TextBox 6"/>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ANSWERING</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000" b="1">
                <a:solidFill>
                  <a:srgbClr val="14181F"/>
                </a:solidFill>
                <a:latin typeface="Calibri"/>
              </a:rPr>
              <a:t>Cadets choose a word. The maths runs on the number.</a:t>
            </a:r>
          </a:p>
        </p:txBody>
      </p:sp>
      <p:sp>
        <p:nvSpPr>
          <p:cNvPr id="4" name="Rectangle 3"/>
          <p:cNvSpPr/>
          <p:nvPr/>
        </p:nvSpPr>
        <p:spPr>
          <a:xfrm>
            <a:off x="2115544" y="2139315"/>
            <a:ext cx="3907072" cy="3950970"/>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student-form.png"/>
          <p:cNvPicPr>
            <a:picLocks noChangeAspect="1"/>
          </p:cNvPicPr>
          <p:nvPr/>
        </p:nvPicPr>
        <p:blipFill>
          <a:blip r:embed="rId2"/>
          <a:stretch>
            <a:fillRect/>
          </a:stretch>
        </p:blipFill>
        <p:spPr>
          <a:xfrm>
            <a:off x="2125069" y="2148840"/>
            <a:ext cx="3888022" cy="3931920"/>
          </a:xfrm>
          <a:prstGeom prst="rect">
            <a:avLst/>
          </a:prstGeom>
        </p:spPr>
      </p:pic>
      <p:sp>
        <p:nvSpPr>
          <p:cNvPr id="6" name="TextBox 5"/>
          <p:cNvSpPr txBox="1"/>
          <p:nvPr/>
        </p:nvSpPr>
        <p:spPr>
          <a:xfrm>
            <a:off x="7680960" y="2286000"/>
            <a:ext cx="3749039" cy="3657600"/>
          </a:xfrm>
          <a:prstGeom prst="rect">
            <a:avLst/>
          </a:prstGeom>
          <a:noFill/>
        </p:spPr>
        <p:txBody>
          <a:bodyPr wrap="square" anchor="t" lIns="0" rIns="0" tIns="0" bIns="0">
            <a:noAutofit/>
          </a:bodyPr>
          <a:lstStyle/>
          <a:p>
            <a:pPr algn="l">
              <a:lnSpc>
                <a:spcPct val="122000"/>
              </a:lnSpc>
              <a:spcAft>
                <a:spcPts val="1100"/>
              </a:spcAft>
            </a:pPr>
            <a:r>
              <a:rPr sz="1500" b="1">
                <a:solidFill>
                  <a:srgbClr val="14181F"/>
                </a:solidFill>
                <a:latin typeface="Calibri"/>
              </a:rPr>
              <a:t>Nine ratings, every one named</a:t>
            </a:r>
          </a:p>
          <a:p>
            <a:pPr algn="l">
              <a:lnSpc>
                <a:spcPct val="122000"/>
              </a:lnSpc>
              <a:spcAft>
                <a:spcPts val="600"/>
              </a:spcAft>
            </a:pPr>
            <a:r>
              <a:rPr sz="1200" b="0">
                <a:solidFill>
                  <a:srgbClr val="55606E"/>
                </a:solidFill>
                <a:latin typeface="Calibri"/>
              </a:rPr>
              <a:t>   Detrimental, Significant, Unfavorable, Minor, Neutral, Slight, Favorable, Major, Outstanding.</a:t>
            </a:r>
          </a:p>
          <a:p>
            <a:pPr algn="l">
              <a:lnSpc>
                <a:spcPct val="122000"/>
              </a:lnSpc>
              <a:spcAft>
                <a:spcPts val="1100"/>
              </a:spcAft>
            </a:pPr>
            <a:r>
              <a:rPr sz="1500" b="1">
                <a:solidFill>
                  <a:srgbClr val="14181F"/>
                </a:solidFill>
                <a:latin typeface="Calibri"/>
              </a:rPr>
              <a:t>No numbers on screen</a:t>
            </a:r>
          </a:p>
          <a:p>
            <a:pPr algn="l">
              <a:lnSpc>
                <a:spcPct val="122000"/>
              </a:lnSpc>
              <a:spcAft>
                <a:spcPts val="600"/>
              </a:spcAft>
            </a:pPr>
            <a:r>
              <a:rPr sz="1200" b="0">
                <a:solidFill>
                  <a:srgbClr val="55606E"/>
                </a:solidFill>
                <a:latin typeface="Calibri"/>
              </a:rPr>
              <a:t>   A visible number invites people to average it in their head while answering.</a:t>
            </a:r>
          </a:p>
          <a:p>
            <a:pPr algn="l">
              <a:lnSpc>
                <a:spcPct val="122000"/>
              </a:lnSpc>
              <a:spcAft>
                <a:spcPts val="1100"/>
              </a:spcAft>
            </a:pPr>
            <a:r>
              <a:rPr sz="1500" b="1">
                <a:solidFill>
                  <a:srgbClr val="14181F"/>
                </a:solidFill>
                <a:latin typeface="Calibri"/>
              </a:rPr>
              <a:t>Written answers capped at 250 words</a:t>
            </a:r>
          </a:p>
          <a:p>
            <a:pPr algn="l">
              <a:lnSpc>
                <a:spcPct val="122000"/>
              </a:lnSpc>
              <a:spcAft>
                <a:spcPts val="600"/>
              </a:spcAft>
            </a:pPr>
            <a:r>
              <a:rPr sz="1200" b="0">
                <a:solidFill>
                  <a:srgbClr val="55606E"/>
                </a:solidFill>
                <a:latin typeface="Calibri"/>
              </a:rPr>
              <a:t>   With a live counter as they type.</a:t>
            </a:r>
          </a:p>
        </p:txBody>
      </p:sp>
      <p:sp>
        <p:nvSpPr>
          <p:cNvPr id="7" name="TextBox 6"/>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ON A PHONE</a:t>
            </a:r>
          </a:p>
        </p:txBody>
      </p:sp>
      <p:sp>
        <p:nvSpPr>
          <p:cNvPr id="4" name="TextBox 3"/>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Built for the walk out of the classroom</a:t>
            </a:r>
          </a:p>
        </p:txBody>
      </p:sp>
      <p:sp>
        <p:nvSpPr>
          <p:cNvPr id="5" name="TextBox 4"/>
          <p:cNvSpPr txBox="1"/>
          <p:nvPr/>
        </p:nvSpPr>
        <p:spPr>
          <a:xfrm>
            <a:off x="822960" y="2331720"/>
            <a:ext cx="5852160" cy="3566160"/>
          </a:xfrm>
          <a:prstGeom prst="rect">
            <a:avLst/>
          </a:prstGeom>
          <a:noFill/>
        </p:spPr>
        <p:txBody>
          <a:bodyPr wrap="square" anchor="t" lIns="0" rIns="0" tIns="0" bIns="0">
            <a:noAutofit/>
          </a:bodyPr>
          <a:lstStyle/>
          <a:p>
            <a:pPr algn="l">
              <a:lnSpc>
                <a:spcPct val="122000"/>
              </a:lnSpc>
              <a:spcAft>
                <a:spcPts val="1500"/>
              </a:spcAft>
            </a:pPr>
            <a:r>
              <a:rPr sz="1700" b="1">
                <a:solidFill>
                  <a:srgbClr val="14181F"/>
                </a:solidFill>
                <a:latin typeface="Calibri"/>
              </a:rPr>
              <a:t>Installs to the home screen</a:t>
            </a:r>
          </a:p>
          <a:p>
            <a:pPr algn="l">
              <a:lnSpc>
                <a:spcPct val="122000"/>
              </a:lnSpc>
              <a:spcAft>
                <a:spcPts val="1000"/>
              </a:spcAft>
            </a:pPr>
            <a:r>
              <a:rPr sz="1400" b="0">
                <a:solidFill>
                  <a:srgbClr val="55606E"/>
                </a:solidFill>
                <a:latin typeface="Calibri"/>
              </a:rPr>
              <a:t>   Opens like an ordinary app. No address for anyone to remember.</a:t>
            </a:r>
          </a:p>
          <a:p>
            <a:pPr algn="l">
              <a:lnSpc>
                <a:spcPct val="122000"/>
              </a:lnSpc>
              <a:spcAft>
                <a:spcPts val="1500"/>
              </a:spcAft>
            </a:pPr>
            <a:r>
              <a:rPr sz="1700" b="1">
                <a:solidFill>
                  <a:srgbClr val="14181F"/>
                </a:solidFill>
                <a:latin typeface="Calibri"/>
              </a:rPr>
              <a:t>Works with no signal</a:t>
            </a:r>
          </a:p>
          <a:p>
            <a:pPr algn="l">
              <a:lnSpc>
                <a:spcPct val="122000"/>
              </a:lnSpc>
              <a:spcAft>
                <a:spcPts val="1000"/>
              </a:spcAft>
            </a:pPr>
            <a:r>
              <a:rPr sz="1400" b="0">
                <a:solidFill>
                  <a:srgbClr val="55606E"/>
                </a:solidFill>
                <a:latin typeface="Calibri"/>
              </a:rPr>
              <a:t>   A submission made offline is saved on the device, shown as pending, and sent automatically when the connection returns.</a:t>
            </a:r>
          </a:p>
          <a:p>
            <a:pPr algn="l">
              <a:lnSpc>
                <a:spcPct val="122000"/>
              </a:lnSpc>
              <a:spcAft>
                <a:spcPts val="1500"/>
              </a:spcAft>
            </a:pPr>
            <a:r>
              <a:rPr sz="1700" b="1">
                <a:solidFill>
                  <a:srgbClr val="14181F"/>
                </a:solidFill>
                <a:latin typeface="Calibri"/>
              </a:rPr>
              <a:t>Nothing is lost to a dropped connection</a:t>
            </a:r>
          </a:p>
        </p:txBody>
      </p:sp>
      <p:sp>
        <p:nvSpPr>
          <p:cNvPr id="6" name="Rectangle 5"/>
          <p:cNvSpPr/>
          <p:nvPr/>
        </p:nvSpPr>
        <p:spPr>
          <a:xfrm>
            <a:off x="9112376" y="767715"/>
            <a:ext cx="886207" cy="5414010"/>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tudent-mobile.png"/>
          <p:cNvPicPr>
            <a:picLocks noChangeAspect="1"/>
          </p:cNvPicPr>
          <p:nvPr/>
        </p:nvPicPr>
        <p:blipFill>
          <a:blip r:embed="rId2"/>
          <a:stretch>
            <a:fillRect/>
          </a:stretch>
        </p:blipFill>
        <p:spPr>
          <a:xfrm>
            <a:off x="9121901" y="777240"/>
            <a:ext cx="867157" cy="5394960"/>
          </a:xfrm>
          <a:prstGeom prst="rect">
            <a:avLst/>
          </a:prstGeom>
        </p:spPr>
      </p:pic>
      <p:sp>
        <p:nvSpPr>
          <p:cNvPr id="8" name="TextBox 7"/>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FOR INSTRUCTORS</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Two things to do, both one click away</a:t>
            </a:r>
          </a:p>
        </p:txBody>
      </p:sp>
      <p:sp>
        <p:nvSpPr>
          <p:cNvPr id="4" name="Rectangle 3"/>
          <p:cNvSpPr/>
          <p:nvPr/>
        </p:nvSpPr>
        <p:spPr>
          <a:xfrm>
            <a:off x="3457067" y="2185035"/>
            <a:ext cx="5247386" cy="3813809"/>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instructor-portal.png"/>
          <p:cNvPicPr>
            <a:picLocks noChangeAspect="1"/>
          </p:cNvPicPr>
          <p:nvPr/>
        </p:nvPicPr>
        <p:blipFill>
          <a:blip r:embed="rId2"/>
          <a:stretch>
            <a:fillRect/>
          </a:stretch>
        </p:blipFill>
        <p:spPr>
          <a:xfrm>
            <a:off x="3466592" y="2194560"/>
            <a:ext cx="5228336" cy="3794759"/>
          </a:xfrm>
          <a:prstGeom prst="rect">
            <a:avLst/>
          </a:prstGeom>
        </p:spPr>
      </p:pic>
      <p:sp>
        <p:nvSpPr>
          <p:cNvPr id="6" name="TextBox 5"/>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CREATING FEEDBACK</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A standardized form, in about two minutes</a:t>
            </a:r>
          </a:p>
        </p:txBody>
      </p:sp>
      <p:sp>
        <p:nvSpPr>
          <p:cNvPr id="4" name="Rectangle 3"/>
          <p:cNvSpPr/>
          <p:nvPr/>
        </p:nvSpPr>
        <p:spPr>
          <a:xfrm>
            <a:off x="2931826" y="2139315"/>
            <a:ext cx="2000188" cy="3950970"/>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form-creator.png"/>
          <p:cNvPicPr>
            <a:picLocks noChangeAspect="1"/>
          </p:cNvPicPr>
          <p:nvPr/>
        </p:nvPicPr>
        <p:blipFill>
          <a:blip r:embed="rId2"/>
          <a:stretch>
            <a:fillRect/>
          </a:stretch>
        </p:blipFill>
        <p:spPr>
          <a:xfrm>
            <a:off x="2941351" y="2148840"/>
            <a:ext cx="1981138" cy="3931920"/>
          </a:xfrm>
          <a:prstGeom prst="rect">
            <a:avLst/>
          </a:prstGeom>
        </p:spPr>
      </p:pic>
      <p:sp>
        <p:nvSpPr>
          <p:cNvPr id="6" name="TextBox 5"/>
          <p:cNvSpPr txBox="1"/>
          <p:nvPr/>
        </p:nvSpPr>
        <p:spPr>
          <a:xfrm>
            <a:off x="7406640" y="2240280"/>
            <a:ext cx="4023360" cy="3794760"/>
          </a:xfrm>
          <a:prstGeom prst="rect">
            <a:avLst/>
          </a:prstGeom>
          <a:noFill/>
        </p:spPr>
        <p:txBody>
          <a:bodyPr wrap="square" anchor="t" lIns="0" rIns="0" tIns="0" bIns="0">
            <a:noAutofit/>
          </a:bodyPr>
          <a:lstStyle/>
          <a:p>
            <a:pPr algn="l">
              <a:lnSpc>
                <a:spcPct val="122000"/>
              </a:lnSpc>
              <a:spcAft>
                <a:spcPts val="1000"/>
              </a:spcAft>
            </a:pPr>
            <a:r>
              <a:rPr sz="1400" b="1">
                <a:solidFill>
                  <a:srgbClr val="14181F"/>
                </a:solidFill>
                <a:latin typeface="Calibri"/>
              </a:rPr>
              <a:t>Name the class or event</a:t>
            </a:r>
          </a:p>
          <a:p>
            <a:pPr algn="l">
              <a:lnSpc>
                <a:spcPct val="122000"/>
              </a:lnSpc>
              <a:spcAft>
                <a:spcPts val="1000"/>
              </a:spcAft>
            </a:pPr>
            <a:r>
              <a:rPr sz="1400" b="1">
                <a:solidFill>
                  <a:srgbClr val="14181F"/>
                </a:solidFill>
                <a:latin typeface="Calibri"/>
              </a:rPr>
              <a:t>Set the AS level, term and dates</a:t>
            </a:r>
          </a:p>
          <a:p>
            <a:pPr algn="l">
              <a:lnSpc>
                <a:spcPct val="122000"/>
              </a:lnSpc>
              <a:spcAft>
                <a:spcPts val="500"/>
              </a:spcAft>
            </a:pPr>
            <a:r>
              <a:rPr sz="1100" b="0">
                <a:solidFill>
                  <a:srgbClr val="55606E"/>
                </a:solidFill>
                <a:latin typeface="Calibri"/>
              </a:rPr>
              <a:t>   Scheduled forms stay hidden until they open.</a:t>
            </a:r>
          </a:p>
          <a:p>
            <a:pPr algn="l">
              <a:lnSpc>
                <a:spcPct val="122000"/>
              </a:lnSpc>
              <a:spcAft>
                <a:spcPts val="1000"/>
              </a:spcAft>
            </a:pPr>
            <a:r>
              <a:rPr sz="1400" b="1">
                <a:solidFill>
                  <a:srgbClr val="14181F"/>
                </a:solidFill>
                <a:latin typeface="Calibri"/>
              </a:rPr>
              <a:t>Choose who receives it</a:t>
            </a:r>
          </a:p>
          <a:p>
            <a:pPr algn="l">
              <a:lnSpc>
                <a:spcPct val="122000"/>
              </a:lnSpc>
              <a:spcAft>
                <a:spcPts val="500"/>
              </a:spcAft>
            </a:pPr>
            <a:r>
              <a:rPr sz="1100" b="0">
                <a:solidFill>
                  <a:srgbClr val="55606E"/>
                </a:solidFill>
                <a:latin typeface="Calibri"/>
              </a:rPr>
              <a:t>   Everyone at that level, or named cadets.</a:t>
            </a:r>
          </a:p>
          <a:p>
            <a:pPr algn="l">
              <a:lnSpc>
                <a:spcPct val="122000"/>
              </a:lnSpc>
              <a:spcAft>
                <a:spcPts val="1000"/>
              </a:spcAft>
            </a:pPr>
            <a:r>
              <a:rPr sz="1400" b="1">
                <a:solidFill>
                  <a:srgbClr val="14181F"/>
                </a:solidFill>
                <a:latin typeface="Calibri"/>
              </a:rPr>
              <a:t>Add questions — three minimum</a:t>
            </a:r>
          </a:p>
          <a:p>
            <a:pPr algn="l">
              <a:lnSpc>
                <a:spcPct val="122000"/>
              </a:lnSpc>
              <a:spcAft>
                <a:spcPts val="500"/>
              </a:spcAft>
            </a:pPr>
            <a:r>
              <a:rPr sz="1100" b="0">
                <a:solidFill>
                  <a:srgbClr val="55606E"/>
                </a:solidFill>
                <a:latin typeface="Calibri"/>
              </a:rPr>
              <a:t>   A rating or a written answer. No maximum.</a:t>
            </a:r>
          </a:p>
          <a:p>
            <a:pPr algn="l">
              <a:lnSpc>
                <a:spcPct val="122000"/>
              </a:lnSpc>
              <a:spcAft>
                <a:spcPts val="1000"/>
              </a:spcAft>
            </a:pPr>
            <a:r>
              <a:rPr sz="1400" b="1">
                <a:solidFill>
                  <a:srgbClr val="14181F"/>
                </a:solidFill>
                <a:latin typeface="Calibri"/>
              </a:rPr>
              <a:t>Every form gets an ID</a:t>
            </a:r>
          </a:p>
          <a:p>
            <a:pPr algn="l">
              <a:lnSpc>
                <a:spcPct val="122000"/>
              </a:lnSpc>
              <a:spcAft>
                <a:spcPts val="500"/>
              </a:spcAft>
            </a:pPr>
            <a:r>
              <a:rPr sz="1100" b="0">
                <a:solidFill>
                  <a:srgbClr val="55606E"/>
                </a:solidFill>
                <a:latin typeface="Calibri"/>
              </a:rPr>
              <a:t>   Such as FB-2026-0001, to quote in conversation.</a:t>
            </a:r>
          </a:p>
        </p:txBody>
      </p:sp>
      <p:sp>
        <p:nvSpPr>
          <p:cNvPr id="7" name="TextBox 6"/>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ANALYSIS — RATINGS</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Everything an average on its own would hide</a:t>
            </a:r>
          </a:p>
        </p:txBody>
      </p:sp>
      <p:sp>
        <p:nvSpPr>
          <p:cNvPr id="4" name="Rectangle 3"/>
          <p:cNvSpPr/>
          <p:nvPr/>
        </p:nvSpPr>
        <p:spPr>
          <a:xfrm>
            <a:off x="1380795" y="2139315"/>
            <a:ext cx="5468010" cy="3950970"/>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analysis-question.png"/>
          <p:cNvPicPr>
            <a:picLocks noChangeAspect="1"/>
          </p:cNvPicPr>
          <p:nvPr/>
        </p:nvPicPr>
        <p:blipFill>
          <a:blip r:embed="rId2"/>
          <a:stretch>
            <a:fillRect/>
          </a:stretch>
        </p:blipFill>
        <p:spPr>
          <a:xfrm>
            <a:off x="1390320" y="2148840"/>
            <a:ext cx="5448960" cy="3931920"/>
          </a:xfrm>
          <a:prstGeom prst="rect">
            <a:avLst/>
          </a:prstGeom>
        </p:spPr>
      </p:pic>
      <p:sp>
        <p:nvSpPr>
          <p:cNvPr id="6" name="TextBox 5"/>
          <p:cNvSpPr txBox="1"/>
          <p:nvPr/>
        </p:nvSpPr>
        <p:spPr>
          <a:xfrm>
            <a:off x="7772400" y="2240280"/>
            <a:ext cx="3657600" cy="3794760"/>
          </a:xfrm>
          <a:prstGeom prst="rect">
            <a:avLst/>
          </a:prstGeom>
          <a:noFill/>
        </p:spPr>
        <p:txBody>
          <a:bodyPr wrap="square" anchor="t" lIns="0" rIns="0" tIns="0" bIns="0">
            <a:noAutofit/>
          </a:bodyPr>
          <a:lstStyle/>
          <a:p>
            <a:pPr algn="l">
              <a:lnSpc>
                <a:spcPct val="122000"/>
              </a:lnSpc>
              <a:spcAft>
                <a:spcPts val="1100"/>
              </a:spcAft>
            </a:pPr>
            <a:r>
              <a:rPr sz="1400" b="1">
                <a:solidFill>
                  <a:srgbClr val="14181F"/>
                </a:solidFill>
                <a:latin typeface="Calibri"/>
              </a:rPr>
              <a:t>Mean, median, range and spread</a:t>
            </a:r>
          </a:p>
          <a:p>
            <a:pPr algn="l">
              <a:lnSpc>
                <a:spcPct val="122000"/>
              </a:lnSpc>
              <a:spcAft>
                <a:spcPts val="1100"/>
              </a:spcAft>
            </a:pPr>
            <a:r>
              <a:rPr sz="1400" b="1">
                <a:solidFill>
                  <a:srgbClr val="14181F"/>
                </a:solidFill>
                <a:latin typeface="Calibri"/>
              </a:rPr>
              <a:t>The distribution across every rating</a:t>
            </a:r>
          </a:p>
          <a:p>
            <a:pPr algn="l">
              <a:lnSpc>
                <a:spcPct val="122000"/>
              </a:lnSpc>
              <a:spcAft>
                <a:spcPts val="600"/>
              </a:spcAft>
            </a:pPr>
            <a:r>
              <a:rPr sz="1100" b="0">
                <a:solidFill>
                  <a:srgbClr val="55606E"/>
                </a:solidFill>
                <a:latin typeface="Calibri"/>
              </a:rPr>
              <a:t>   Shape you can see rather than infer.</a:t>
            </a:r>
          </a:p>
          <a:p>
            <a:pPr algn="l">
              <a:lnSpc>
                <a:spcPct val="122000"/>
              </a:lnSpc>
              <a:spcAft>
                <a:spcPts val="1100"/>
              </a:spcAft>
            </a:pPr>
            <a:r>
              <a:rPr sz="1400" b="1">
                <a:solidFill>
                  <a:srgbClr val="14181F"/>
                </a:solidFill>
                <a:latin typeface="Calibri"/>
              </a:rPr>
              <a:t>An agreement score from 0 to 1</a:t>
            </a:r>
          </a:p>
          <a:p>
            <a:pPr algn="l">
              <a:lnSpc>
                <a:spcPct val="122000"/>
              </a:lnSpc>
              <a:spcAft>
                <a:spcPts val="600"/>
              </a:spcAft>
            </a:pPr>
            <a:r>
              <a:rPr sz="1100" b="0">
                <a:solidFill>
                  <a:srgbClr val="55606E"/>
                </a:solidFill>
                <a:latin typeface="Calibri"/>
              </a:rPr>
              <a:t>   Did they actually agree, or just average out?</a:t>
            </a:r>
          </a:p>
          <a:p>
            <a:pPr algn="l">
              <a:lnSpc>
                <a:spcPct val="122000"/>
              </a:lnSpc>
              <a:spcAft>
                <a:spcPts val="1100"/>
              </a:spcAft>
            </a:pPr>
            <a:r>
              <a:rPr sz="1400" b="1">
                <a:solidFill>
                  <a:srgbClr val="14181F"/>
                </a:solidFill>
                <a:latin typeface="Calibri"/>
              </a:rPr>
              <a:t>Outliers, found robustly</a:t>
            </a:r>
          </a:p>
          <a:p>
            <a:pPr algn="l">
              <a:lnSpc>
                <a:spcPct val="122000"/>
              </a:lnSpc>
              <a:spcAft>
                <a:spcPts val="600"/>
              </a:spcAft>
            </a:pPr>
            <a:r>
              <a:rPr sz="1100" b="0">
                <a:solidFill>
                  <a:srgbClr val="55606E"/>
                </a:solidFill>
                <a:latin typeface="Calibri"/>
              </a:rPr>
              <a:t>   Measured against the median, so one extreme rating cannot hide itself.</a:t>
            </a:r>
          </a:p>
        </p:txBody>
      </p:sp>
      <p:sp>
        <p:nvSpPr>
          <p:cNvPr id="7" name="TextBox 6"/>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4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325880"/>
            <a:ext cx="10424160" cy="2286000"/>
          </a:xfrm>
          <a:prstGeom prst="rect">
            <a:avLst/>
          </a:prstGeom>
          <a:noFill/>
        </p:spPr>
        <p:txBody>
          <a:bodyPr wrap="square" anchor="t" lIns="0" rIns="0" tIns="0" bIns="0">
            <a:noAutofit/>
          </a:bodyPr>
          <a:lstStyle/>
          <a:p>
            <a:pPr algn="l">
              <a:lnSpc>
                <a:spcPct val="122000"/>
              </a:lnSpc>
              <a:spcAft>
                <a:spcPts val="1000"/>
              </a:spcAft>
            </a:pPr>
            <a:r>
              <a:rPr sz="3300" b="1">
                <a:solidFill>
                  <a:srgbClr val="FFFFFF"/>
                </a:solidFill>
                <a:latin typeface="Calibri"/>
              </a:rPr>
              <a:t>An average of 5 can mean everyone shrugged —</a:t>
            </a:r>
          </a:p>
          <a:p>
            <a:pPr algn="l">
              <a:lnSpc>
                <a:spcPct val="122000"/>
              </a:lnSpc>
              <a:spcAft>
                <a:spcPts val="1000"/>
              </a:spcAft>
            </a:pPr>
            <a:r>
              <a:rPr sz="3300" b="1">
                <a:solidFill>
                  <a:srgbClr val="FFFFFF"/>
                </a:solidFill>
                <a:latin typeface="Calibri"/>
              </a:rPr>
              <a:t>or that half the flight thought it outstanding</a:t>
            </a:r>
          </a:p>
          <a:p>
            <a:pPr algn="l">
              <a:lnSpc>
                <a:spcPct val="122000"/>
              </a:lnSpc>
              <a:spcAft>
                <a:spcPts val="0"/>
              </a:spcAft>
            </a:pPr>
            <a:r>
              <a:rPr sz="3300" b="1">
                <a:solidFill>
                  <a:srgbClr val="FFFFFF"/>
                </a:solidFill>
                <a:latin typeface="Calibri"/>
              </a:rPr>
              <a:t>and half thought it harmful.</a:t>
            </a:r>
          </a:p>
        </p:txBody>
      </p:sp>
      <p:sp>
        <p:nvSpPr>
          <p:cNvPr id="4" name="Rectangle 3"/>
          <p:cNvSpPr/>
          <p:nvPr/>
        </p:nvSpPr>
        <p:spPr>
          <a:xfrm>
            <a:off x="822960" y="3977639"/>
            <a:ext cx="1188720" cy="285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4343400"/>
            <a:ext cx="9875520" cy="1737360"/>
          </a:xfrm>
          <a:prstGeom prst="rect">
            <a:avLst/>
          </a:prstGeom>
          <a:noFill/>
        </p:spPr>
        <p:txBody>
          <a:bodyPr wrap="square" anchor="t" lIns="0" rIns="0" tIns="0" bIns="0">
            <a:noAutofit/>
          </a:bodyPr>
          <a:lstStyle/>
          <a:p>
            <a:pPr algn="l">
              <a:lnSpc>
                <a:spcPct val="122000"/>
              </a:lnSpc>
              <a:spcAft>
                <a:spcPts val="1400"/>
              </a:spcAft>
            </a:pPr>
            <a:r>
              <a:rPr sz="1900" b="0">
                <a:solidFill>
                  <a:srgbClr val="FFFFFF"/>
                </a:solidFill>
                <a:latin typeface="Calibri"/>
              </a:rPr>
              <a:t>Same number. Opposite situations. Only one of them needs acting on.</a:t>
            </a:r>
          </a:p>
          <a:p>
            <a:pPr algn="l">
              <a:lnSpc>
                <a:spcPct val="122000"/>
              </a:lnSpc>
              <a:spcAft>
                <a:spcPts val="0"/>
              </a:spcAft>
            </a:pPr>
            <a:r>
              <a:rPr sz="1700" b="0">
                <a:solidFill>
                  <a:srgbClr val="FFFFFF"/>
                </a:solidFill>
                <a:latin typeface="Calibri"/>
              </a:rPr>
              <a:t>TOP-Feedback finds the split, says so plainly, and tells you the average describes nobody — so you read both groups instead of the middle.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ANALYSIS — WRITTEN ANSWERS</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Read the ones that matter first</a:t>
            </a:r>
          </a:p>
        </p:txBody>
      </p:sp>
      <p:sp>
        <p:nvSpPr>
          <p:cNvPr id="4" name="TextBox 3"/>
          <p:cNvSpPr txBox="1"/>
          <p:nvPr/>
        </p:nvSpPr>
        <p:spPr>
          <a:xfrm>
            <a:off x="822960" y="2148840"/>
            <a:ext cx="5394960" cy="3840480"/>
          </a:xfrm>
          <a:prstGeom prst="rect">
            <a:avLst/>
          </a:prstGeom>
          <a:noFill/>
        </p:spPr>
        <p:txBody>
          <a:bodyPr wrap="square" anchor="t" lIns="0" rIns="0" tIns="0" bIns="0">
            <a:noAutofit/>
          </a:bodyPr>
          <a:lstStyle/>
          <a:p>
            <a:pPr algn="l">
              <a:lnSpc>
                <a:spcPct val="122000"/>
              </a:lnSpc>
              <a:spcAft>
                <a:spcPts val="1300"/>
              </a:spcAft>
            </a:pPr>
            <a:r>
              <a:rPr sz="1600" b="1">
                <a:solidFill>
                  <a:srgbClr val="14181F"/>
                </a:solidFill>
                <a:latin typeface="Calibri"/>
              </a:rPr>
              <a:t>Sentiment, ranked most negative first</a:t>
            </a:r>
          </a:p>
          <a:p>
            <a:pPr algn="l">
              <a:lnSpc>
                <a:spcPct val="122000"/>
              </a:lnSpc>
              <a:spcAft>
                <a:spcPts val="800"/>
              </a:spcAft>
            </a:pPr>
            <a:r>
              <a:rPr sz="1300" b="0">
                <a:solidFill>
                  <a:srgbClr val="55606E"/>
                </a:solidFill>
                <a:latin typeface="Calibri"/>
              </a:rPr>
              <a:t>   Handles negation and emphasis, so 'not helpful' and 'extremely helpful' both score correctly.</a:t>
            </a:r>
          </a:p>
          <a:p>
            <a:pPr algn="l">
              <a:lnSpc>
                <a:spcPct val="122000"/>
              </a:lnSpc>
              <a:spcAft>
                <a:spcPts val="1300"/>
              </a:spcAft>
            </a:pPr>
            <a:r>
              <a:rPr sz="1600" b="1">
                <a:solidFill>
                  <a:srgbClr val="14181F"/>
                </a:solidFill>
                <a:latin typeface="Calibri"/>
              </a:rPr>
              <a:t>Every answer is shown</a:t>
            </a:r>
          </a:p>
          <a:p>
            <a:pPr algn="l">
              <a:lnSpc>
                <a:spcPct val="122000"/>
              </a:lnSpc>
              <a:spcAft>
                <a:spcPts val="800"/>
              </a:spcAft>
            </a:pPr>
            <a:r>
              <a:rPr sz="1300" b="0">
                <a:solidFill>
                  <a:srgbClr val="55606E"/>
                </a:solidFill>
                <a:latin typeface="Calibri"/>
              </a:rPr>
              <a:t>   Answers the word list cannot read are labelled, never hidden.</a:t>
            </a:r>
          </a:p>
          <a:p>
            <a:pPr algn="l">
              <a:lnSpc>
                <a:spcPct val="122000"/>
              </a:lnSpc>
              <a:spcAft>
                <a:spcPts val="1300"/>
              </a:spcAft>
            </a:pPr>
            <a:r>
              <a:rPr sz="1600" b="1">
                <a:solidFill>
                  <a:srgbClr val="14181F"/>
                </a:solidFill>
                <a:latin typeface="Calibri"/>
              </a:rPr>
              <a:t>It runs on the device</a:t>
            </a:r>
          </a:p>
          <a:p>
            <a:pPr algn="l">
              <a:lnSpc>
                <a:spcPct val="122000"/>
              </a:lnSpc>
              <a:spcAft>
                <a:spcPts val="800"/>
              </a:spcAft>
            </a:pPr>
            <a:r>
              <a:rPr sz="1300" b="0">
                <a:solidFill>
                  <a:srgbClr val="55606E"/>
                </a:solidFill>
                <a:latin typeface="Calibri"/>
              </a:rPr>
              <a:t>   No cloud service sees your cadets' words. That is why it is a word list and not a model, and the accuracy limits are stated on screen.</a:t>
            </a:r>
          </a:p>
        </p:txBody>
      </p:sp>
      <p:sp>
        <p:nvSpPr>
          <p:cNvPr id="5" name="Rectangle 4"/>
          <p:cNvSpPr/>
          <p:nvPr/>
        </p:nvSpPr>
        <p:spPr>
          <a:xfrm>
            <a:off x="6436995" y="2515985"/>
            <a:ext cx="4956810" cy="2740429"/>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wordcloud.png"/>
          <p:cNvPicPr>
            <a:picLocks noChangeAspect="1"/>
          </p:cNvPicPr>
          <p:nvPr/>
        </p:nvPicPr>
        <p:blipFill>
          <a:blip r:embed="rId2"/>
          <a:stretch>
            <a:fillRect/>
          </a:stretch>
        </p:blipFill>
        <p:spPr>
          <a:xfrm>
            <a:off x="6446520" y="2525510"/>
            <a:ext cx="4937760" cy="2721379"/>
          </a:xfrm>
          <a:prstGeom prst="rect">
            <a:avLst/>
          </a:prstGeom>
        </p:spPr>
      </p:pic>
      <p:sp>
        <p:nvSpPr>
          <p:cNvPr id="7" name="TextBox 6"/>
          <p:cNvSpPr txBox="1"/>
          <p:nvPr/>
        </p:nvSpPr>
        <p:spPr>
          <a:xfrm>
            <a:off x="6446520" y="5760720"/>
            <a:ext cx="4937760" cy="457200"/>
          </a:xfrm>
          <a:prstGeom prst="rect">
            <a:avLst/>
          </a:prstGeom>
          <a:noFill/>
        </p:spPr>
        <p:txBody>
          <a:bodyPr wrap="square" anchor="t" lIns="0" rIns="0" tIns="0" bIns="0">
            <a:noAutofit/>
          </a:bodyPr>
          <a:lstStyle/>
          <a:p>
            <a:pPr algn="l">
              <a:lnSpc>
                <a:spcPct val="122000"/>
              </a:lnSpc>
              <a:spcAft>
                <a:spcPts val="0"/>
              </a:spcAft>
            </a:pPr>
            <a:r>
              <a:rPr sz="1200" b="0">
                <a:solidFill>
                  <a:srgbClr val="8A939F"/>
                </a:solidFill>
                <a:latin typeface="Calibri"/>
              </a:rPr>
              <a:t>Word cloud sized by how many people used a word, not how often it appears.</a:t>
            </a:r>
          </a:p>
        </p:txBody>
      </p:sp>
      <p:sp>
        <p:nvSpPr>
          <p:cNvPr id="8" name="TextBox 7"/>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A02724"/>
                </a:solidFill>
                <a:latin typeface="Calibri"/>
              </a:rPr>
              <a:t>SAFETY SCREEN</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Nothing important sits unread</a:t>
            </a:r>
          </a:p>
        </p:txBody>
      </p:sp>
      <p:sp>
        <p:nvSpPr>
          <p:cNvPr id="4" name="Rectangle 3"/>
          <p:cNvSpPr/>
          <p:nvPr/>
        </p:nvSpPr>
        <p:spPr>
          <a:xfrm>
            <a:off x="813435" y="2817322"/>
            <a:ext cx="6785610" cy="2594956"/>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safety.png"/>
          <p:cNvPicPr>
            <a:picLocks noChangeAspect="1"/>
          </p:cNvPicPr>
          <p:nvPr/>
        </p:nvPicPr>
        <p:blipFill>
          <a:blip r:embed="rId2"/>
          <a:stretch>
            <a:fillRect/>
          </a:stretch>
        </p:blipFill>
        <p:spPr>
          <a:xfrm>
            <a:off x="822960" y="2826847"/>
            <a:ext cx="6766560" cy="2575906"/>
          </a:xfrm>
          <a:prstGeom prst="rect">
            <a:avLst/>
          </a:prstGeom>
        </p:spPr>
      </p:pic>
      <p:sp>
        <p:nvSpPr>
          <p:cNvPr id="6" name="TextBox 5"/>
          <p:cNvSpPr txBox="1"/>
          <p:nvPr/>
        </p:nvSpPr>
        <p:spPr>
          <a:xfrm>
            <a:off x="7955279" y="2240280"/>
            <a:ext cx="3474720" cy="3794760"/>
          </a:xfrm>
          <a:prstGeom prst="rect">
            <a:avLst/>
          </a:prstGeom>
          <a:noFill/>
        </p:spPr>
        <p:txBody>
          <a:bodyPr wrap="square" anchor="t" lIns="0" rIns="0" tIns="0" bIns="0">
            <a:noAutofit/>
          </a:bodyPr>
          <a:lstStyle/>
          <a:p>
            <a:pPr algn="l">
              <a:lnSpc>
                <a:spcPct val="122000"/>
              </a:lnSpc>
              <a:spcAft>
                <a:spcPts val="1100"/>
              </a:spcAft>
            </a:pPr>
            <a:r>
              <a:rPr sz="1400" b="1">
                <a:solidFill>
                  <a:srgbClr val="14181F"/>
                </a:solidFill>
                <a:latin typeface="Calibri"/>
              </a:rPr>
              <a:t>Every written answer is screened</a:t>
            </a:r>
          </a:p>
          <a:p>
            <a:pPr algn="l">
              <a:lnSpc>
                <a:spcPct val="122000"/>
              </a:lnSpc>
              <a:spcAft>
                <a:spcPts val="600"/>
              </a:spcAft>
            </a:pPr>
            <a:r>
              <a:rPr sz="1100" b="0">
                <a:solidFill>
                  <a:srgbClr val="55606E"/>
                </a:solidFill>
                <a:latin typeface="Calibri"/>
              </a:rPr>
              <a:t>   Hazing, sexual harassment, discrimination, violence, self-harm, substances, integrity.</a:t>
            </a:r>
          </a:p>
          <a:p>
            <a:pPr algn="l">
              <a:lnSpc>
                <a:spcPct val="122000"/>
              </a:lnSpc>
              <a:spcAft>
                <a:spcPts val="1100"/>
              </a:spcAft>
            </a:pPr>
            <a:r>
              <a:rPr sz="1400" b="1">
                <a:solidFill>
                  <a:srgbClr val="14181F"/>
                </a:solidFill>
                <a:latin typeface="Calibri"/>
              </a:rPr>
              <a:t>Matches are highlighted in context</a:t>
            </a:r>
          </a:p>
          <a:p>
            <a:pPr algn="l">
              <a:lnSpc>
                <a:spcPct val="122000"/>
              </a:lnSpc>
              <a:spcAft>
                <a:spcPts val="1100"/>
              </a:spcAft>
            </a:pPr>
            <a:r>
              <a:rPr sz="1400" b="1">
                <a:solidFill>
                  <a:srgbClr val="14181F"/>
                </a:solidFill>
                <a:latin typeface="Calibri"/>
              </a:rPr>
              <a:t>A prompt, never a finding</a:t>
            </a:r>
          </a:p>
          <a:p>
            <a:pPr algn="l">
              <a:lnSpc>
                <a:spcPct val="122000"/>
              </a:lnSpc>
              <a:spcAft>
                <a:spcPts val="600"/>
              </a:spcAft>
            </a:pPr>
            <a:r>
              <a:rPr sz="1100" b="0">
                <a:solidFill>
                  <a:srgbClr val="55606E"/>
                </a:solidFill>
                <a:latin typeface="Calibri"/>
              </a:rPr>
              <a:t>   It cannot tell 'we discussed hazing prevention' from 'I was hazed'. A person reads it and decides.</a:t>
            </a:r>
          </a:p>
        </p:txBody>
      </p:sp>
      <p:sp>
        <p:nvSpPr>
          <p:cNvPr id="7" name="TextBox 6"/>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ANONYMITY</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Anonymous, and still able to chase people</a:t>
            </a:r>
          </a:p>
        </p:txBody>
      </p:sp>
      <p:sp>
        <p:nvSpPr>
          <p:cNvPr id="4" name="Rounded Rectangle 3"/>
          <p:cNvSpPr/>
          <p:nvPr/>
        </p:nvSpPr>
        <p:spPr>
          <a:xfrm>
            <a:off x="822960" y="2194560"/>
            <a:ext cx="3246120" cy="2788920"/>
          </a:xfrm>
          <a:prstGeom prst="roundRect">
            <a:avLst>
              <a:gd name="adj" fmla="val 4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22960" y="2194560"/>
            <a:ext cx="3246120" cy="50292"/>
          </a:xfrm>
          <a:prstGeom prst="rect">
            <a:avLst/>
          </a:prstGeom>
          <a:solidFill>
            <a:srgbClr val="1C4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33856" y="2578608"/>
            <a:ext cx="2624328" cy="2130552"/>
          </a:xfrm>
          <a:prstGeom prst="rect">
            <a:avLst/>
          </a:prstGeom>
          <a:noFill/>
        </p:spPr>
        <p:txBody>
          <a:bodyPr wrap="square" anchor="t" lIns="0" rIns="0" tIns="0" bIns="0">
            <a:noAutofit/>
          </a:bodyPr>
          <a:lstStyle/>
          <a:p>
            <a:pPr algn="l">
              <a:lnSpc>
                <a:spcPct val="122000"/>
              </a:lnSpc>
              <a:spcAft>
                <a:spcPts val="1000"/>
              </a:spcAft>
            </a:pPr>
            <a:r>
              <a:rPr sz="1900" b="1">
                <a:solidFill>
                  <a:srgbClr val="14181F"/>
                </a:solidFill>
                <a:latin typeface="Calibri"/>
              </a:rPr>
              <a:t>How it works</a:t>
            </a:r>
          </a:p>
          <a:p>
            <a:pPr algn="l">
              <a:lnSpc>
                <a:spcPct val="122000"/>
              </a:lnSpc>
              <a:spcAft>
                <a:spcPts val="0"/>
              </a:spcAft>
            </a:pPr>
            <a:r>
              <a:rPr sz="1400" b="0">
                <a:solidFill>
                  <a:srgbClr val="55606E"/>
                </a:solidFill>
                <a:latin typeface="Calibri"/>
              </a:rPr>
              <a:t>The cadet signs in, so the app knows who they are. It writes a receipt in a separate folder, then drops the name. The response itself carries no identity.</a:t>
            </a:r>
          </a:p>
        </p:txBody>
      </p:sp>
      <p:sp>
        <p:nvSpPr>
          <p:cNvPr id="7" name="Rounded Rectangle 6"/>
          <p:cNvSpPr/>
          <p:nvPr/>
        </p:nvSpPr>
        <p:spPr>
          <a:xfrm>
            <a:off x="4453128" y="2194560"/>
            <a:ext cx="3246120" cy="2788920"/>
          </a:xfrm>
          <a:prstGeom prst="roundRect">
            <a:avLst>
              <a:gd name="adj" fmla="val 4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4453128" y="2194560"/>
            <a:ext cx="3246120" cy="50292"/>
          </a:xfrm>
          <a:prstGeom prst="rect">
            <a:avLst/>
          </a:prstGeom>
          <a:solidFill>
            <a:srgbClr val="1C6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64024" y="2578608"/>
            <a:ext cx="2624328" cy="2130552"/>
          </a:xfrm>
          <a:prstGeom prst="rect">
            <a:avLst/>
          </a:prstGeom>
          <a:noFill/>
        </p:spPr>
        <p:txBody>
          <a:bodyPr wrap="square" anchor="t" lIns="0" rIns="0" tIns="0" bIns="0">
            <a:noAutofit/>
          </a:bodyPr>
          <a:lstStyle/>
          <a:p>
            <a:pPr algn="l">
              <a:lnSpc>
                <a:spcPct val="122000"/>
              </a:lnSpc>
              <a:spcAft>
                <a:spcPts val="1000"/>
              </a:spcAft>
            </a:pPr>
            <a:r>
              <a:rPr sz="1900" b="1">
                <a:solidFill>
                  <a:srgbClr val="14181F"/>
                </a:solidFill>
                <a:latin typeface="Calibri"/>
              </a:rPr>
              <a:t>What that buys</a:t>
            </a:r>
          </a:p>
          <a:p>
            <a:pPr algn="l">
              <a:lnSpc>
                <a:spcPct val="122000"/>
              </a:lnSpc>
              <a:spcAft>
                <a:spcPts val="0"/>
              </a:spcAft>
            </a:pPr>
            <a:r>
              <a:rPr sz="1400" b="0">
                <a:solidFill>
                  <a:srgbClr val="55606E"/>
                </a:solidFill>
                <a:latin typeface="Calibri"/>
              </a:rPr>
              <a:t>You can say 'two cadets still owe feedback' about responses nobody can attribute — and nobody can submit twice.</a:t>
            </a:r>
          </a:p>
        </p:txBody>
      </p:sp>
      <p:sp>
        <p:nvSpPr>
          <p:cNvPr id="10" name="Rounded Rectangle 9"/>
          <p:cNvSpPr/>
          <p:nvPr/>
        </p:nvSpPr>
        <p:spPr>
          <a:xfrm>
            <a:off x="8083296" y="2194560"/>
            <a:ext cx="3246120" cy="2788920"/>
          </a:xfrm>
          <a:prstGeom prst="roundRect">
            <a:avLst>
              <a:gd name="adj" fmla="val 4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083296" y="2194560"/>
            <a:ext cx="3246120" cy="50292"/>
          </a:xfrm>
          <a:prstGeom prst="rect">
            <a:avLst/>
          </a:prstGeom>
          <a:solidFill>
            <a:srgbClr val="8A5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94192" y="2578608"/>
            <a:ext cx="2624328" cy="2130552"/>
          </a:xfrm>
          <a:prstGeom prst="rect">
            <a:avLst/>
          </a:prstGeom>
          <a:noFill/>
        </p:spPr>
        <p:txBody>
          <a:bodyPr wrap="square" anchor="t" lIns="0" rIns="0" tIns="0" bIns="0">
            <a:noAutofit/>
          </a:bodyPr>
          <a:lstStyle/>
          <a:p>
            <a:pPr algn="l">
              <a:lnSpc>
                <a:spcPct val="122000"/>
              </a:lnSpc>
              <a:spcAft>
                <a:spcPts val="1000"/>
              </a:spcAft>
            </a:pPr>
            <a:r>
              <a:rPr sz="1900" b="1">
                <a:solidFill>
                  <a:srgbClr val="14181F"/>
                </a:solidFill>
                <a:latin typeface="Calibri"/>
              </a:rPr>
              <a:t>The honest limit</a:t>
            </a:r>
          </a:p>
          <a:p>
            <a:pPr algn="l">
              <a:lnSpc>
                <a:spcPct val="122000"/>
              </a:lnSpc>
              <a:spcAft>
                <a:spcPts val="0"/>
              </a:spcAft>
            </a:pPr>
            <a:r>
              <a:rPr sz="1400" b="0">
                <a:solidFill>
                  <a:srgbClr val="55606E"/>
                </a:solidFill>
                <a:latin typeface="Calibri"/>
              </a:rPr>
              <a:t>With very few responses a single answer can be identified by elimination. So anonymous results stay hidden until three people have responded.</a:t>
            </a:r>
          </a:p>
        </p:txBody>
      </p:sp>
      <p:sp>
        <p:nvSpPr>
          <p:cNvPr id="13" name="TextBox 12"/>
          <p:cNvSpPr txBox="1"/>
          <p:nvPr/>
        </p:nvSpPr>
        <p:spPr>
          <a:xfrm>
            <a:off x="822960" y="5349240"/>
            <a:ext cx="10424160" cy="777240"/>
          </a:xfrm>
          <a:prstGeom prst="rect">
            <a:avLst/>
          </a:prstGeom>
          <a:noFill/>
        </p:spPr>
        <p:txBody>
          <a:bodyPr wrap="square" anchor="t" lIns="0" rIns="0" tIns="0" bIns="0">
            <a:noAutofit/>
          </a:bodyPr>
          <a:lstStyle/>
          <a:p>
            <a:pPr algn="l">
              <a:lnSpc>
                <a:spcPct val="122000"/>
              </a:lnSpc>
              <a:spcAft>
                <a:spcPts val="0"/>
              </a:spcAft>
            </a:pPr>
            <a:r>
              <a:rPr sz="1500" b="0">
                <a:solidFill>
                  <a:srgbClr val="14181F"/>
                </a:solidFill>
                <a:latin typeface="Calibri"/>
              </a:rPr>
              <a:t>Safety flags are the deliberate exception: a disclosure cannot wait for a third response, so the app tells you one exists and warns that opening it may identify the author.</a:t>
            </a:r>
          </a:p>
        </p:txBody>
      </p:sp>
      <p:sp>
        <p:nvSpPr>
          <p:cNvPr id="14" name="TextBox 13"/>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RUNNING IT</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A roster, not a password list</a:t>
            </a:r>
          </a:p>
        </p:txBody>
      </p:sp>
      <p:sp>
        <p:nvSpPr>
          <p:cNvPr id="4" name="TextBox 3"/>
          <p:cNvSpPr txBox="1"/>
          <p:nvPr/>
        </p:nvSpPr>
        <p:spPr>
          <a:xfrm>
            <a:off x="822960" y="1783080"/>
            <a:ext cx="9966960" cy="566928"/>
          </a:xfrm>
          <a:prstGeom prst="rect">
            <a:avLst/>
          </a:prstGeom>
          <a:noFill/>
        </p:spPr>
        <p:txBody>
          <a:bodyPr wrap="square" anchor="t" lIns="0" rIns="0" tIns="0" bIns="0">
            <a:noAutofit/>
          </a:bodyPr>
          <a:lstStyle/>
          <a:p>
            <a:pPr algn="l">
              <a:lnSpc>
                <a:spcPct val="122000"/>
              </a:lnSpc>
              <a:spcAft>
                <a:spcPts val="0"/>
              </a:spcAft>
            </a:pPr>
            <a:r>
              <a:rPr sz="1600" b="0">
                <a:solidFill>
                  <a:srgbClr val="55606E"/>
                </a:solidFill>
                <a:latin typeface="Calibri"/>
              </a:rPr>
              <a:t>Everyone signs in with the Google account you already mail them at. Add people by email, one at a time or a whole class by CSV.</a:t>
            </a:r>
          </a:p>
        </p:txBody>
      </p:sp>
      <p:sp>
        <p:nvSpPr>
          <p:cNvPr id="5" name="Rectangle 4"/>
          <p:cNvSpPr/>
          <p:nvPr/>
        </p:nvSpPr>
        <p:spPr>
          <a:xfrm>
            <a:off x="5381728" y="2550795"/>
            <a:ext cx="1398064" cy="3310890"/>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admin.png"/>
          <p:cNvPicPr>
            <a:picLocks noChangeAspect="1"/>
          </p:cNvPicPr>
          <p:nvPr/>
        </p:nvPicPr>
        <p:blipFill>
          <a:blip r:embed="rId2"/>
          <a:stretch>
            <a:fillRect/>
          </a:stretch>
        </p:blipFill>
        <p:spPr>
          <a:xfrm>
            <a:off x="5391253" y="2560320"/>
            <a:ext cx="1379014" cy="3291840"/>
          </a:xfrm>
          <a:prstGeom prst="rect">
            <a:avLst/>
          </a:prstGeom>
        </p:spPr>
      </p:pic>
      <p:sp>
        <p:nvSpPr>
          <p:cNvPr id="7" name="TextBox 6"/>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GETTING A DETACHMENT ONTO IT</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One link. Or point a room at a screen.</a:t>
            </a:r>
          </a:p>
        </p:txBody>
      </p:sp>
      <p:sp>
        <p:nvSpPr>
          <p:cNvPr id="4" name="TextBox 3"/>
          <p:cNvSpPr txBox="1"/>
          <p:nvPr/>
        </p:nvSpPr>
        <p:spPr>
          <a:xfrm>
            <a:off x="822960" y="1783080"/>
            <a:ext cx="9966960" cy="566928"/>
          </a:xfrm>
          <a:prstGeom prst="rect">
            <a:avLst/>
          </a:prstGeom>
          <a:noFill/>
        </p:spPr>
        <p:txBody>
          <a:bodyPr wrap="square" anchor="t" lIns="0" rIns="0" tIns="0" bIns="0">
            <a:noAutofit/>
          </a:bodyPr>
          <a:lstStyle/>
          <a:p>
            <a:pPr algn="l">
              <a:lnSpc>
                <a:spcPct val="122000"/>
              </a:lnSpc>
              <a:spcAft>
                <a:spcPts val="0"/>
              </a:spcAft>
            </a:pPr>
            <a:r>
              <a:rPr sz="1600" b="0">
                <a:solidFill>
                  <a:srgbClr val="55606E"/>
                </a:solidFill>
                <a:latin typeface="Calibri"/>
              </a:rPr>
              <a:t>Cadets do not install anything, configure anything, or type anything.</a:t>
            </a:r>
          </a:p>
        </p:txBody>
      </p:sp>
      <p:sp>
        <p:nvSpPr>
          <p:cNvPr id="5" name="TextBox 4"/>
          <p:cNvSpPr txBox="1"/>
          <p:nvPr/>
        </p:nvSpPr>
        <p:spPr>
          <a:xfrm>
            <a:off x="822960" y="2194560"/>
            <a:ext cx="5669280" cy="3657600"/>
          </a:xfrm>
          <a:prstGeom prst="rect">
            <a:avLst/>
          </a:prstGeom>
          <a:noFill/>
        </p:spPr>
        <p:txBody>
          <a:bodyPr wrap="square" anchor="t" lIns="0" rIns="0" tIns="0" bIns="0">
            <a:noAutofit/>
          </a:bodyPr>
          <a:lstStyle/>
          <a:p>
            <a:pPr algn="l">
              <a:lnSpc>
                <a:spcPct val="122000"/>
              </a:lnSpc>
              <a:spcAft>
                <a:spcPts val="1200"/>
              </a:spcAft>
            </a:pPr>
            <a:r>
              <a:rPr sz="1600" b="1">
                <a:solidFill>
                  <a:srgbClr val="14181F"/>
                </a:solidFill>
                <a:latin typeface="Calibri"/>
              </a:rPr>
              <a:t>Send a join link</a:t>
            </a:r>
          </a:p>
          <a:p>
            <a:pPr algn="l">
              <a:lnSpc>
                <a:spcPct val="122000"/>
              </a:lnSpc>
              <a:spcAft>
                <a:spcPts val="700"/>
              </a:spcAft>
            </a:pPr>
            <a:r>
              <a:rPr sz="1300" b="0">
                <a:solidFill>
                  <a:srgbClr val="55606E"/>
                </a:solidFill>
                <a:latin typeface="Calibri"/>
              </a:rPr>
              <a:t>   Chat, email, however you already reach them. It carries the whole setup.</a:t>
            </a:r>
          </a:p>
          <a:p>
            <a:pPr algn="l">
              <a:lnSpc>
                <a:spcPct val="122000"/>
              </a:lnSpc>
              <a:spcAft>
                <a:spcPts val="1200"/>
              </a:spcAft>
            </a:pPr>
            <a:r>
              <a:rPr sz="1600" b="1">
                <a:solidFill>
                  <a:srgbClr val="14181F"/>
                </a:solidFill>
                <a:latin typeface="Calibri"/>
              </a:rPr>
              <a:t>Or show the QR code</a:t>
            </a:r>
          </a:p>
          <a:p>
            <a:pPr algn="l">
              <a:lnSpc>
                <a:spcPct val="122000"/>
              </a:lnSpc>
              <a:spcAft>
                <a:spcPts val="700"/>
              </a:spcAft>
            </a:pPr>
            <a:r>
              <a:rPr sz="1300" b="0">
                <a:solidFill>
                  <a:srgbClr val="55606E"/>
                </a:solidFill>
                <a:latin typeface="Calibri"/>
              </a:rPr>
              <a:t>   On a projector at the start of a meeting. Thirty phones in a minute.</a:t>
            </a:r>
          </a:p>
          <a:p>
            <a:pPr algn="l">
              <a:lnSpc>
                <a:spcPct val="122000"/>
              </a:lnSpc>
              <a:spcAft>
                <a:spcPts val="1200"/>
              </a:spcAft>
            </a:pPr>
            <a:r>
              <a:rPr sz="1600" b="1">
                <a:solidFill>
                  <a:srgbClr val="14181F"/>
                </a:solidFill>
                <a:latin typeface="Calibri"/>
              </a:rPr>
              <a:t>They sign in with Google</a:t>
            </a:r>
          </a:p>
          <a:p>
            <a:pPr algn="l">
              <a:lnSpc>
                <a:spcPct val="122000"/>
              </a:lnSpc>
              <a:spcAft>
                <a:spcPts val="700"/>
              </a:spcAft>
            </a:pPr>
            <a:r>
              <a:rPr sz="1300" b="0">
                <a:solidFill>
                  <a:srgbClr val="55606E"/>
                </a:solidFill>
                <a:latin typeface="Calibri"/>
              </a:rPr>
              <a:t>   The account you already mail them at. That is the whole enrolment.</a:t>
            </a:r>
          </a:p>
        </p:txBody>
      </p:sp>
      <p:sp>
        <p:nvSpPr>
          <p:cNvPr id="6" name="Rectangle 5"/>
          <p:cNvSpPr/>
          <p:nvPr/>
        </p:nvSpPr>
        <p:spPr>
          <a:xfrm>
            <a:off x="6665595" y="2288274"/>
            <a:ext cx="4773930" cy="3470172"/>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qr-desktop.png"/>
          <p:cNvPicPr>
            <a:picLocks noChangeAspect="1"/>
          </p:cNvPicPr>
          <p:nvPr/>
        </p:nvPicPr>
        <p:blipFill>
          <a:blip r:embed="rId2"/>
          <a:stretch>
            <a:fillRect/>
          </a:stretch>
        </p:blipFill>
        <p:spPr>
          <a:xfrm>
            <a:off x="6675120" y="2297799"/>
            <a:ext cx="4754880" cy="3451122"/>
          </a:xfrm>
          <a:prstGeom prst="rect">
            <a:avLst/>
          </a:prstGeom>
        </p:spPr>
      </p:pic>
      <p:sp>
        <p:nvSpPr>
          <p:cNvPr id="8" name="TextBox 7"/>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8229600" cy="292608"/>
          </a:xfrm>
          <a:prstGeom prst="rect">
            <a:avLst/>
          </a:prstGeom>
          <a:noFill/>
        </p:spPr>
        <p:txBody>
          <a:bodyPr wrap="square" anchor="t" lIns="0" rIns="0" tIns="0" bIns="0">
            <a:noAutofit/>
          </a:bodyPr>
          <a:lstStyle/>
          <a:p>
            <a:pPr algn="l">
              <a:lnSpc>
                <a:spcPct val="122000"/>
              </a:lnSpc>
              <a:spcAft>
                <a:spcPts val="0"/>
              </a:spcAft>
            </a:pPr>
            <a:r>
              <a:rPr sz="1200" b="1">
                <a:solidFill>
                  <a:srgbClr val="1C4F8B"/>
                </a:solidFill>
                <a:latin typeface="Calibri"/>
              </a:rPr>
              <a:t>FOR THE COMMANDER</a:t>
            </a:r>
          </a:p>
        </p:txBody>
      </p:sp>
      <p:sp>
        <p:nvSpPr>
          <p:cNvPr id="3" name="TextBox 2"/>
          <p:cNvSpPr txBox="1"/>
          <p:nvPr/>
        </p:nvSpPr>
        <p:spPr>
          <a:xfrm>
            <a:off x="822960" y="896112"/>
            <a:ext cx="10545775" cy="960120"/>
          </a:xfrm>
          <a:prstGeom prst="rect">
            <a:avLst/>
          </a:prstGeom>
          <a:noFill/>
        </p:spPr>
        <p:txBody>
          <a:bodyPr wrap="square" anchor="t" lIns="0" rIns="0" tIns="0" bIns="0">
            <a:noAutofit/>
          </a:bodyPr>
          <a:lstStyle/>
          <a:p>
            <a:pPr algn="l">
              <a:lnSpc>
                <a:spcPct val="122000"/>
              </a:lnSpc>
              <a:spcAft>
                <a:spcPts val="0"/>
              </a:spcAft>
            </a:pPr>
            <a:r>
              <a:rPr sz="3400" b="1">
                <a:solidFill>
                  <a:srgbClr val="14181F"/>
                </a:solidFill>
                <a:latin typeface="Calibri"/>
              </a:rPr>
              <a:t>How is this instructor doing?</a:t>
            </a:r>
          </a:p>
        </p:txBody>
      </p:sp>
      <p:sp>
        <p:nvSpPr>
          <p:cNvPr id="4" name="TextBox 3"/>
          <p:cNvSpPr txBox="1"/>
          <p:nvPr/>
        </p:nvSpPr>
        <p:spPr>
          <a:xfrm>
            <a:off x="822960" y="1783080"/>
            <a:ext cx="9966960" cy="566928"/>
          </a:xfrm>
          <a:prstGeom prst="rect">
            <a:avLst/>
          </a:prstGeom>
          <a:noFill/>
        </p:spPr>
        <p:txBody>
          <a:bodyPr wrap="square" anchor="t" lIns="0" rIns="0" tIns="0" bIns="0">
            <a:noAutofit/>
          </a:bodyPr>
          <a:lstStyle/>
          <a:p>
            <a:pPr algn="l">
              <a:lnSpc>
                <a:spcPct val="122000"/>
              </a:lnSpc>
              <a:spcAft>
                <a:spcPts val="0"/>
              </a:spcAft>
            </a:pPr>
            <a:r>
              <a:rPr sz="1600" b="0">
                <a:solidFill>
                  <a:srgbClr val="55606E"/>
                </a:solidFill>
                <a:latin typeface="Calibri"/>
              </a:rPr>
              <a:t>The same feedback, grouped by the person it reflects on.</a:t>
            </a:r>
          </a:p>
        </p:txBody>
      </p:sp>
      <p:sp>
        <p:nvSpPr>
          <p:cNvPr id="5" name="Rectangle 4"/>
          <p:cNvSpPr/>
          <p:nvPr/>
        </p:nvSpPr>
        <p:spPr>
          <a:xfrm>
            <a:off x="3614547" y="2276475"/>
            <a:ext cx="4932426" cy="3585210"/>
          </a:xfrm>
          <a:prstGeom prst="rect">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list.png"/>
          <p:cNvPicPr>
            <a:picLocks noChangeAspect="1"/>
          </p:cNvPicPr>
          <p:nvPr/>
        </p:nvPicPr>
        <p:blipFill>
          <a:blip r:embed="rId2"/>
          <a:stretch>
            <a:fillRect/>
          </a:stretch>
        </p:blipFill>
        <p:spPr>
          <a:xfrm>
            <a:off x="3624072" y="2286000"/>
            <a:ext cx="4913376" cy="3566160"/>
          </a:xfrm>
          <a:prstGeom prst="rect">
            <a:avLst/>
          </a:prstGeom>
        </p:spPr>
      </p:pic>
      <p:sp>
        <p:nvSpPr>
          <p:cNvPr id="7" name="TextBox 6"/>
          <p:cNvSpPr txBox="1"/>
          <p:nvPr/>
        </p:nvSpPr>
        <p:spPr>
          <a:xfrm>
            <a:off x="10881360" y="6327648"/>
            <a:ext cx="502920" cy="274320"/>
          </a:xfrm>
          <a:prstGeom prst="rect">
            <a:avLst/>
          </a:prstGeom>
          <a:noFill/>
        </p:spPr>
        <p:txBody>
          <a:bodyPr wrap="square" anchor="t" lIns="0" rIns="0" tIns="0" bIns="0">
            <a:noAutofit/>
          </a:bodyPr>
          <a:lstStyle/>
          <a:p>
            <a:pPr algn="r">
              <a:lnSpc>
                <a:spcPct val="122000"/>
              </a:lnSpc>
              <a:spcAft>
                <a:spcPts val="0"/>
              </a:spcAft>
            </a:pPr>
            <a:r>
              <a:rPr sz="1100" b="0">
                <a:solidFill>
                  <a:srgbClr val="8A939F"/>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4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097280"/>
            <a:ext cx="10515600" cy="1005840"/>
          </a:xfrm>
          <a:prstGeom prst="rect">
            <a:avLst/>
          </a:prstGeom>
          <a:noFill/>
        </p:spPr>
        <p:txBody>
          <a:bodyPr wrap="square" anchor="t" lIns="0" rIns="0" tIns="0" bIns="0">
            <a:noAutofit/>
          </a:bodyPr>
          <a:lstStyle/>
          <a:p>
            <a:pPr algn="l">
              <a:lnSpc>
                <a:spcPct val="122000"/>
              </a:lnSpc>
              <a:spcAft>
                <a:spcPts val="0"/>
              </a:spcAft>
            </a:pPr>
            <a:r>
              <a:rPr sz="3200" b="1">
                <a:solidFill>
                  <a:srgbClr val="FFFFFF"/>
                </a:solidFill>
                <a:latin typeface="Calibri"/>
              </a:rPr>
              <a:t>Your detachment owns its data. Nobody else can reach it.</a:t>
            </a:r>
          </a:p>
        </p:txBody>
      </p:sp>
      <p:sp>
        <p:nvSpPr>
          <p:cNvPr id="4" name="TextBox 3"/>
          <p:cNvSpPr txBox="1"/>
          <p:nvPr/>
        </p:nvSpPr>
        <p:spPr>
          <a:xfrm>
            <a:off x="822960" y="2468880"/>
            <a:ext cx="10424160" cy="868680"/>
          </a:xfrm>
          <a:prstGeom prst="rect">
            <a:avLst/>
          </a:prstGeom>
          <a:noFill/>
        </p:spPr>
        <p:txBody>
          <a:bodyPr wrap="square" anchor="t" lIns="0" rIns="0" tIns="0" bIns="0">
            <a:noAutofit/>
          </a:bodyPr>
          <a:lstStyle/>
          <a:p>
            <a:pPr algn="l">
              <a:lnSpc>
                <a:spcPct val="122000"/>
              </a:lnSpc>
              <a:spcAft>
                <a:spcPts val="400"/>
              </a:spcAft>
            </a:pPr>
            <a:r>
              <a:rPr sz="1900" b="1">
                <a:solidFill>
                  <a:srgbClr val="FFFFFF"/>
                </a:solidFill>
                <a:latin typeface="Calibri"/>
              </a:rPr>
              <a:t>It lives in your Google Drive, in your account</a:t>
            </a:r>
          </a:p>
          <a:p>
            <a:pPr algn="l">
              <a:lnSpc>
                <a:spcPct val="122000"/>
              </a:lnSpc>
              <a:spcAft>
                <a:spcPts val="0"/>
              </a:spcAft>
            </a:pPr>
            <a:r>
              <a:rPr sz="1400" b="0">
                <a:solidFill>
                  <a:srgbClr val="FFFFFF"/>
                </a:solidFill>
                <a:latin typeface="Calibri"/>
              </a:rPr>
              <a:t>No vendor database, no copy anywhere else. Delete the folder and it is gone.</a:t>
            </a:r>
          </a:p>
        </p:txBody>
      </p:sp>
      <p:sp>
        <p:nvSpPr>
          <p:cNvPr id="5" name="TextBox 4"/>
          <p:cNvSpPr txBox="1"/>
          <p:nvPr/>
        </p:nvSpPr>
        <p:spPr>
          <a:xfrm>
            <a:off x="822960" y="3401568"/>
            <a:ext cx="10424160" cy="868680"/>
          </a:xfrm>
          <a:prstGeom prst="rect">
            <a:avLst/>
          </a:prstGeom>
          <a:noFill/>
        </p:spPr>
        <p:txBody>
          <a:bodyPr wrap="square" anchor="t" lIns="0" rIns="0" tIns="0" bIns="0">
            <a:noAutofit/>
          </a:bodyPr>
          <a:lstStyle/>
          <a:p>
            <a:pPr algn="l">
              <a:lnSpc>
                <a:spcPct val="122000"/>
              </a:lnSpc>
              <a:spcAft>
                <a:spcPts val="400"/>
              </a:spcAft>
            </a:pPr>
            <a:r>
              <a:rPr sz="1900" b="1">
                <a:solidFill>
                  <a:srgbClr val="FFFFFF"/>
                </a:solidFill>
                <a:latin typeface="Calibri"/>
              </a:rPr>
              <a:t>Only the folder's owner needs access to it</a:t>
            </a:r>
          </a:p>
          <a:p>
            <a:pPr algn="l">
              <a:lnSpc>
                <a:spcPct val="122000"/>
              </a:lnSpc>
              <a:spcAft>
                <a:spcPts val="0"/>
              </a:spcAft>
            </a:pPr>
            <a:r>
              <a:rPr sz="1400" b="0">
                <a:solidFill>
                  <a:srgbClr val="FFFFFF"/>
                </a:solidFill>
                <a:latin typeface="Calibri"/>
              </a:rPr>
              <a:t>Cadets and cadre reach their feedback through your own server, not the folder.</a:t>
            </a:r>
          </a:p>
        </p:txBody>
      </p:sp>
      <p:sp>
        <p:nvSpPr>
          <p:cNvPr id="6" name="TextBox 5"/>
          <p:cNvSpPr txBox="1"/>
          <p:nvPr/>
        </p:nvSpPr>
        <p:spPr>
          <a:xfrm>
            <a:off x="822960" y="4334256"/>
            <a:ext cx="10424160" cy="868680"/>
          </a:xfrm>
          <a:prstGeom prst="rect">
            <a:avLst/>
          </a:prstGeom>
          <a:noFill/>
        </p:spPr>
        <p:txBody>
          <a:bodyPr wrap="square" anchor="t" lIns="0" rIns="0" tIns="0" bIns="0">
            <a:noAutofit/>
          </a:bodyPr>
          <a:lstStyle/>
          <a:p>
            <a:pPr algn="l">
              <a:lnSpc>
                <a:spcPct val="122000"/>
              </a:lnSpc>
              <a:spcAft>
                <a:spcPts val="400"/>
              </a:spcAft>
            </a:pPr>
            <a:r>
              <a:rPr sz="1900" b="1">
                <a:solidFill>
                  <a:srgbClr val="FFFFFF"/>
                </a:solidFill>
                <a:latin typeface="Calibri"/>
              </a:rPr>
              <a:t>Removing somebody removes them permanently</a:t>
            </a:r>
          </a:p>
          <a:p>
            <a:pPr algn="l">
              <a:lnSpc>
                <a:spcPct val="122000"/>
              </a:lnSpc>
              <a:spcAft>
                <a:spcPts val="0"/>
              </a:spcAft>
            </a:pPr>
            <a:r>
              <a:rPr sz="1400" b="0">
                <a:solidFill>
                  <a:srgbClr val="FFFFFF"/>
                </a:solidFill>
                <a:latin typeface="Calibri"/>
              </a:rPr>
              <a:t>Their feedback stays; their name is stripped out of it and does not come back.</a:t>
            </a:r>
          </a:p>
        </p:txBody>
      </p:sp>
      <p:sp>
        <p:nvSpPr>
          <p:cNvPr id="7" name="TextBox 6"/>
          <p:cNvSpPr txBox="1"/>
          <p:nvPr/>
        </p:nvSpPr>
        <p:spPr>
          <a:xfrm>
            <a:off x="822960" y="5266944"/>
            <a:ext cx="10424160" cy="868680"/>
          </a:xfrm>
          <a:prstGeom prst="rect">
            <a:avLst/>
          </a:prstGeom>
          <a:noFill/>
        </p:spPr>
        <p:txBody>
          <a:bodyPr wrap="square" anchor="t" lIns="0" rIns="0" tIns="0" bIns="0">
            <a:noAutofit/>
          </a:bodyPr>
          <a:lstStyle/>
          <a:p>
            <a:pPr algn="l">
              <a:lnSpc>
                <a:spcPct val="122000"/>
              </a:lnSpc>
              <a:spcAft>
                <a:spcPts val="400"/>
              </a:spcAft>
            </a:pPr>
            <a:r>
              <a:rPr sz="1900" b="1">
                <a:solidFill>
                  <a:srgbClr val="FFFFFF"/>
                </a:solidFill>
                <a:latin typeface="Calibri"/>
              </a:rPr>
              <a:t>There is an export built for sharing</a:t>
            </a:r>
          </a:p>
          <a:p>
            <a:pPr algn="l">
              <a:lnSpc>
                <a:spcPct val="122000"/>
              </a:lnSpc>
              <a:spcAft>
                <a:spcPts val="0"/>
              </a:spcAft>
            </a:pPr>
            <a:r>
              <a:rPr sz="1400" b="0">
                <a:solidFill>
                  <a:srgbClr val="FFFFFF"/>
                </a:solidFill>
                <a:latin typeface="Calibri"/>
              </a:rPr>
              <a:t>No roster, no names, timestamps rounded to the month. Safe to keep off-site.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4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005840"/>
            <a:ext cx="9144000" cy="868680"/>
          </a:xfrm>
          <a:prstGeom prst="rect">
            <a:avLst/>
          </a:prstGeom>
          <a:noFill/>
        </p:spPr>
        <p:txBody>
          <a:bodyPr wrap="square" anchor="t" lIns="0" rIns="0" tIns="0" bIns="0">
            <a:noAutofit/>
          </a:bodyPr>
          <a:lstStyle/>
          <a:p>
            <a:pPr algn="l">
              <a:lnSpc>
                <a:spcPct val="122000"/>
              </a:lnSpc>
              <a:spcAft>
                <a:spcPts val="0"/>
              </a:spcAft>
            </a:pPr>
            <a:r>
              <a:rPr sz="4200" b="1">
                <a:solidFill>
                  <a:srgbClr val="FFFFFF"/>
                </a:solidFill>
                <a:latin typeface="Calibri"/>
              </a:rPr>
              <a:t>Getting started</a:t>
            </a:r>
          </a:p>
        </p:txBody>
      </p:sp>
      <p:sp>
        <p:nvSpPr>
          <p:cNvPr id="4" name="Oval 3"/>
          <p:cNvSpPr/>
          <p:nvPr/>
        </p:nvSpPr>
        <p:spPr>
          <a:xfrm>
            <a:off x="822960" y="2103120"/>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185416"/>
            <a:ext cx="548640" cy="384048"/>
          </a:xfrm>
          <a:prstGeom prst="rect">
            <a:avLst/>
          </a:prstGeom>
          <a:noFill/>
        </p:spPr>
        <p:txBody>
          <a:bodyPr wrap="square" anchor="t" lIns="0" rIns="0" tIns="0" bIns="0">
            <a:noAutofit/>
          </a:bodyPr>
          <a:lstStyle/>
          <a:p>
            <a:pPr algn="ctr">
              <a:lnSpc>
                <a:spcPct val="122000"/>
              </a:lnSpc>
              <a:spcAft>
                <a:spcPts val="0"/>
              </a:spcAft>
            </a:pPr>
            <a:r>
              <a:rPr sz="1900" b="1">
                <a:solidFill>
                  <a:srgbClr val="1C4F8B"/>
                </a:solidFill>
                <a:latin typeface="Calibri"/>
              </a:rPr>
              <a:t>1</a:t>
            </a:r>
          </a:p>
        </p:txBody>
      </p:sp>
      <p:sp>
        <p:nvSpPr>
          <p:cNvPr id="6" name="TextBox 5"/>
          <p:cNvSpPr txBox="1"/>
          <p:nvPr/>
        </p:nvSpPr>
        <p:spPr>
          <a:xfrm>
            <a:off x="1691640" y="2084832"/>
            <a:ext cx="8778240" cy="960120"/>
          </a:xfrm>
          <a:prstGeom prst="rect">
            <a:avLst/>
          </a:prstGeom>
          <a:noFill/>
        </p:spPr>
        <p:txBody>
          <a:bodyPr wrap="square" anchor="t" lIns="0" rIns="0" tIns="0" bIns="0">
            <a:noAutofit/>
          </a:bodyPr>
          <a:lstStyle/>
          <a:p>
            <a:pPr algn="l">
              <a:lnSpc>
                <a:spcPct val="122000"/>
              </a:lnSpc>
              <a:spcAft>
                <a:spcPts val="400"/>
              </a:spcAft>
            </a:pPr>
            <a:r>
              <a:rPr sz="2100" b="1">
                <a:solidFill>
                  <a:srgbClr val="FFFFFF"/>
                </a:solidFill>
                <a:latin typeface="Calibri"/>
              </a:rPr>
              <a:t>Create the folder</a:t>
            </a:r>
          </a:p>
          <a:p>
            <a:pPr algn="l">
              <a:lnSpc>
                <a:spcPct val="122000"/>
              </a:lnSpc>
              <a:spcAft>
                <a:spcPts val="0"/>
              </a:spcAft>
            </a:pPr>
            <a:r>
              <a:rPr sz="1500" b="0">
                <a:solidFill>
                  <a:srgbClr val="FFFFFF"/>
                </a:solidFill>
                <a:latin typeface="Calibri"/>
              </a:rPr>
              <a:t>A Google account the detachment owns, and a folder named TOP-Feedback.</a:t>
            </a:r>
          </a:p>
        </p:txBody>
      </p:sp>
      <p:sp>
        <p:nvSpPr>
          <p:cNvPr id="7" name="Oval 6"/>
          <p:cNvSpPr/>
          <p:nvPr/>
        </p:nvSpPr>
        <p:spPr>
          <a:xfrm>
            <a:off x="822960" y="3090672"/>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3172968"/>
            <a:ext cx="548640" cy="384048"/>
          </a:xfrm>
          <a:prstGeom prst="rect">
            <a:avLst/>
          </a:prstGeom>
          <a:noFill/>
        </p:spPr>
        <p:txBody>
          <a:bodyPr wrap="square" anchor="t" lIns="0" rIns="0" tIns="0" bIns="0">
            <a:noAutofit/>
          </a:bodyPr>
          <a:lstStyle/>
          <a:p>
            <a:pPr algn="ctr">
              <a:lnSpc>
                <a:spcPct val="122000"/>
              </a:lnSpc>
              <a:spcAft>
                <a:spcPts val="0"/>
              </a:spcAft>
            </a:pPr>
            <a:r>
              <a:rPr sz="1900" b="1">
                <a:solidFill>
                  <a:srgbClr val="1C4F8B"/>
                </a:solidFill>
                <a:latin typeface="Calibri"/>
              </a:rPr>
              <a:t>2</a:t>
            </a:r>
          </a:p>
        </p:txBody>
      </p:sp>
      <p:sp>
        <p:nvSpPr>
          <p:cNvPr id="9" name="TextBox 8"/>
          <p:cNvSpPr txBox="1"/>
          <p:nvPr/>
        </p:nvSpPr>
        <p:spPr>
          <a:xfrm>
            <a:off x="1691640" y="3072384"/>
            <a:ext cx="8778240" cy="960120"/>
          </a:xfrm>
          <a:prstGeom prst="rect">
            <a:avLst/>
          </a:prstGeom>
          <a:noFill/>
        </p:spPr>
        <p:txBody>
          <a:bodyPr wrap="square" anchor="t" lIns="0" rIns="0" tIns="0" bIns="0">
            <a:noAutofit/>
          </a:bodyPr>
          <a:lstStyle/>
          <a:p>
            <a:pPr algn="l">
              <a:lnSpc>
                <a:spcPct val="122000"/>
              </a:lnSpc>
              <a:spcAft>
                <a:spcPts val="400"/>
              </a:spcAft>
            </a:pPr>
            <a:r>
              <a:rPr sz="2100" b="1">
                <a:solidFill>
                  <a:srgbClr val="FFFFFF"/>
                </a:solidFill>
                <a:latin typeface="Calibri"/>
              </a:rPr>
              <a:t>Register the app</a:t>
            </a:r>
          </a:p>
          <a:p>
            <a:pPr algn="l">
              <a:lnSpc>
                <a:spcPct val="122000"/>
              </a:lnSpc>
              <a:spcAft>
                <a:spcPts val="0"/>
              </a:spcAft>
            </a:pPr>
            <a:r>
              <a:rPr sz="1500" b="0">
                <a:solidFill>
                  <a:srgbClr val="FFFFFF"/>
                </a:solidFill>
                <a:latin typeface="Calibri"/>
              </a:rPr>
              <a:t>One free Google Cloud project, so the app can reach that Drive. About ten minutes.</a:t>
            </a:r>
          </a:p>
        </p:txBody>
      </p:sp>
      <p:sp>
        <p:nvSpPr>
          <p:cNvPr id="10" name="Oval 9"/>
          <p:cNvSpPr/>
          <p:nvPr/>
        </p:nvSpPr>
        <p:spPr>
          <a:xfrm>
            <a:off x="822960" y="407822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4160520"/>
            <a:ext cx="548640" cy="384048"/>
          </a:xfrm>
          <a:prstGeom prst="rect">
            <a:avLst/>
          </a:prstGeom>
          <a:noFill/>
        </p:spPr>
        <p:txBody>
          <a:bodyPr wrap="square" anchor="t" lIns="0" rIns="0" tIns="0" bIns="0">
            <a:noAutofit/>
          </a:bodyPr>
          <a:lstStyle/>
          <a:p>
            <a:pPr algn="ctr">
              <a:lnSpc>
                <a:spcPct val="122000"/>
              </a:lnSpc>
              <a:spcAft>
                <a:spcPts val="0"/>
              </a:spcAft>
            </a:pPr>
            <a:r>
              <a:rPr sz="1900" b="1">
                <a:solidFill>
                  <a:srgbClr val="1C4F8B"/>
                </a:solidFill>
                <a:latin typeface="Calibri"/>
              </a:rPr>
              <a:t>3</a:t>
            </a:r>
          </a:p>
        </p:txBody>
      </p:sp>
      <p:sp>
        <p:nvSpPr>
          <p:cNvPr id="12" name="TextBox 11"/>
          <p:cNvSpPr txBox="1"/>
          <p:nvPr/>
        </p:nvSpPr>
        <p:spPr>
          <a:xfrm>
            <a:off x="1691640" y="4059936"/>
            <a:ext cx="8778240" cy="960120"/>
          </a:xfrm>
          <a:prstGeom prst="rect">
            <a:avLst/>
          </a:prstGeom>
          <a:noFill/>
        </p:spPr>
        <p:txBody>
          <a:bodyPr wrap="square" anchor="t" lIns="0" rIns="0" tIns="0" bIns="0">
            <a:noAutofit/>
          </a:bodyPr>
          <a:lstStyle/>
          <a:p>
            <a:pPr algn="l">
              <a:lnSpc>
                <a:spcPct val="122000"/>
              </a:lnSpc>
              <a:spcAft>
                <a:spcPts val="400"/>
              </a:spcAft>
            </a:pPr>
            <a:r>
              <a:rPr sz="2100" b="1">
                <a:solidFill>
                  <a:srgbClr val="FFFFFF"/>
                </a:solidFill>
                <a:latin typeface="Calibri"/>
              </a:rPr>
              <a:t>Deploy the server</a:t>
            </a:r>
          </a:p>
          <a:p>
            <a:pPr algn="l">
              <a:lnSpc>
                <a:spcPct val="122000"/>
              </a:lnSpc>
              <a:spcAft>
                <a:spcPts val="0"/>
              </a:spcAft>
            </a:pPr>
            <a:r>
              <a:rPr sz="1500" b="0">
                <a:solidFill>
                  <a:srgbClr val="FFFFFF"/>
                </a:solidFill>
                <a:latin typeface="Calibri"/>
              </a:rPr>
              <a:t>A short script in the same account. Fifteen minutes, and nobody else needs the folder.</a:t>
            </a:r>
          </a:p>
        </p:txBody>
      </p:sp>
      <p:sp>
        <p:nvSpPr>
          <p:cNvPr id="13" name="Oval 12"/>
          <p:cNvSpPr/>
          <p:nvPr/>
        </p:nvSpPr>
        <p:spPr>
          <a:xfrm>
            <a:off x="822960" y="5065776"/>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5148072"/>
            <a:ext cx="548640" cy="384048"/>
          </a:xfrm>
          <a:prstGeom prst="rect">
            <a:avLst/>
          </a:prstGeom>
          <a:noFill/>
        </p:spPr>
        <p:txBody>
          <a:bodyPr wrap="square" anchor="t" lIns="0" rIns="0" tIns="0" bIns="0">
            <a:noAutofit/>
          </a:bodyPr>
          <a:lstStyle/>
          <a:p>
            <a:pPr algn="ctr">
              <a:lnSpc>
                <a:spcPct val="122000"/>
              </a:lnSpc>
              <a:spcAft>
                <a:spcPts val="0"/>
              </a:spcAft>
            </a:pPr>
            <a:r>
              <a:rPr sz="1900" b="1">
                <a:solidFill>
                  <a:srgbClr val="1C4F8B"/>
                </a:solidFill>
                <a:latin typeface="Calibri"/>
              </a:rPr>
              <a:t>4</a:t>
            </a:r>
          </a:p>
        </p:txBody>
      </p:sp>
      <p:sp>
        <p:nvSpPr>
          <p:cNvPr id="15" name="TextBox 14"/>
          <p:cNvSpPr txBox="1"/>
          <p:nvPr/>
        </p:nvSpPr>
        <p:spPr>
          <a:xfrm>
            <a:off x="1691640" y="5047488"/>
            <a:ext cx="8778240" cy="960120"/>
          </a:xfrm>
          <a:prstGeom prst="rect">
            <a:avLst/>
          </a:prstGeom>
          <a:noFill/>
        </p:spPr>
        <p:txBody>
          <a:bodyPr wrap="square" anchor="t" lIns="0" rIns="0" tIns="0" bIns="0">
            <a:noAutofit/>
          </a:bodyPr>
          <a:lstStyle/>
          <a:p>
            <a:pPr algn="l">
              <a:lnSpc>
                <a:spcPct val="122000"/>
              </a:lnSpc>
              <a:spcAft>
                <a:spcPts val="400"/>
              </a:spcAft>
            </a:pPr>
            <a:r>
              <a:rPr sz="2100" b="1">
                <a:solidFill>
                  <a:srgbClr val="FFFFFF"/>
                </a:solidFill>
                <a:latin typeface="Calibri"/>
              </a:rPr>
              <a:t>Send the link</a:t>
            </a:r>
          </a:p>
          <a:p>
            <a:pPr algn="l">
              <a:lnSpc>
                <a:spcPct val="122000"/>
              </a:lnSpc>
              <a:spcAft>
                <a:spcPts val="0"/>
              </a:spcAft>
            </a:pPr>
            <a:r>
              <a:rPr sz="1500" b="0">
                <a:solidFill>
                  <a:srgbClr val="FFFFFF"/>
                </a:solidFill>
                <a:latin typeface="Calibri"/>
              </a:rPr>
              <a:t>Add people by email, then send one join link. Cadets configure nothing.</a:t>
            </a:r>
          </a:p>
        </p:txBody>
      </p:sp>
      <p:sp>
        <p:nvSpPr>
          <p:cNvPr id="16" name="Rectangle 15"/>
          <p:cNvSpPr/>
          <p:nvPr/>
        </p:nvSpPr>
        <p:spPr>
          <a:xfrm>
            <a:off x="822960" y="5806440"/>
            <a:ext cx="10424160" cy="19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6035040"/>
            <a:ext cx="10424160" cy="411480"/>
          </a:xfrm>
          <a:prstGeom prst="rect">
            <a:avLst/>
          </a:prstGeom>
          <a:noFill/>
        </p:spPr>
        <p:txBody>
          <a:bodyPr wrap="square" anchor="t" lIns="0" rIns="0" tIns="0" bIns="0">
            <a:noAutofit/>
          </a:bodyPr>
          <a:lstStyle/>
          <a:p>
            <a:pPr algn="l">
              <a:lnSpc>
                <a:spcPct val="122000"/>
              </a:lnSpc>
              <a:spcAft>
                <a:spcPts val="0"/>
              </a:spcAft>
            </a:pPr>
            <a:r>
              <a:rPr sz="1500" b="0">
                <a:solidFill>
                  <a:srgbClr val="FFFFFF"/>
                </a:solidFill>
                <a:latin typeface="Calibri"/>
              </a:rPr>
              <a:t>Step by step, with screenshots: TOP-Feedback Setup Guide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